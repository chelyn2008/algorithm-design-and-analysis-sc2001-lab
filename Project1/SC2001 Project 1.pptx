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7E4A25-40E0-4266-8125-3624E40FF983}">
  <a:tblStyle styleId="{577E4A25-40E0-4266-8125-3624E40FF98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FiraCode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Cod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e7b51334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e7b51334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e7b3cc9d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e7b3cc9d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e7b3cc9d3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e7b3cc9d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e7f9c668d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e7f9c668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e7f9c668d6_0_1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e7f9c668d6_0_1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409f46d68be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409f46d68be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409f46d68be_3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409f46d68be_3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h3dc52083bb1133da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h3dc52083bb1133da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426b92285221d99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426b92285221d99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h3289a3417d8708e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h3289a3417d8708e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Size for each insertion sort algorithm needs to be bigger than 1 ands smaller than n for the splits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Insertion sort + mergesort based on value on 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40a04b7d2a4_0_2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40a04b7d2a4_0_2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 sort algorithm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for each insertion sort algorithm needs to be bigger than 1 ands smaller than n for the splits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40a04b7d2a4_0_2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40a04b7d2a4_0_2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 sort algorithm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for each insertion sort algorithm needs to be bigger than 1 ands smaller than n for the splits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40a04b7d2a4_0_2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40a04b7d2a4_0_2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 sort algorithm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for each insertion sort algorithm needs to be bigger than 1 ands smaller than n for the splits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40a04b7d2a4_0_2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40a04b7d2a4_0_2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 sort algorithm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for each insertion sort algorithm needs to be bigger than 1 ands smaller than n for the splits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h3289a3417d8708e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h3289a3417d8708e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 sort algorithm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for each insertion sort algorithm needs to be bigger than 1 ands smaller than n </a:t>
            </a:r>
            <a:r>
              <a:rPr lang="en"/>
              <a:t>for the splits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409f46d68be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409f46d68be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40a03cc98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40a03cc98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40a03cc989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40a03cc989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40a03cc989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40a03cc989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40a03cc989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40a03cc989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fbbc24720d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fbbc24720d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hybrid algorithm improves the </a:t>
            </a:r>
            <a:r>
              <a:rPr b="1" lang="en">
                <a:solidFill>
                  <a:schemeClr val="dk1"/>
                </a:solidFill>
              </a:rPr>
              <a:t>constant factors</a:t>
            </a:r>
            <a:r>
              <a:rPr lang="en">
                <a:solidFill>
                  <a:schemeClr val="dk1"/>
                </a:solidFill>
              </a:rPr>
              <a:t>. Normal merge sort continues splitting until every subarray contains one element. Your hybrid algorithm stops at size SS and sorts each small subarray using insertion sort.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can be faster because: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It makes fewer recursive calls.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Insertion sort has low overhead on small arrays.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Insertion sort often has better cache locality.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Insertion sort is especially fast when the small subarrays are nearly sorted.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However, choosing SS too large can make it slower because the insertion-sort cost grows as O(nS). For example, if S=nS=n, the algorithm becomes insertion sort and its worst case becomes O(n^2).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40a03cc989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40a03cc989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>
            <p:ph hasCustomPrompt="1"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/>
          <p:nvPr>
            <p:ph idx="2" type="title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" type="body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 txBox="1"/>
          <p:nvPr>
            <p:ph idx="1" type="subTitle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" name="Google Shape;71;p5"/>
          <p:cNvSpPr txBox="1"/>
          <p:nvPr>
            <p:ph idx="2" type="subTitle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2" name="Google Shape;72;p5"/>
          <p:cNvSpPr txBox="1"/>
          <p:nvPr>
            <p:ph idx="3" type="subTitle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/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 txBox="1"/>
          <p:nvPr>
            <p:ph idx="1" type="subTitle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 txBox="1"/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7" name="Google Shape;147;p9"/>
          <p:cNvSpPr txBox="1"/>
          <p:nvPr>
            <p:ph idx="1" type="subTitle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 txBox="1"/>
          <p:nvPr>
            <p:ph hasCustomPrompt="1" type="title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 txBox="1"/>
          <p:nvPr>
            <p:ph hasCustomPrompt="1"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/>
          <p:nvPr>
            <p:ph idx="1" type="subTitle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2" type="subTitle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hasCustomPrompt="1" idx="3" type="title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/>
          <p:nvPr>
            <p:ph idx="4" type="subTitle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5" type="subTitle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hasCustomPrompt="1" idx="6" type="title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/>
          <p:nvPr>
            <p:ph idx="7" type="subTitle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8" type="subTitle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/>
          <p:nvPr>
            <p:ph idx="9"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 txBox="1"/>
          <p:nvPr>
            <p:ph type="title"/>
          </p:nvPr>
        </p:nvSpPr>
        <p:spPr>
          <a:xfrm>
            <a:off x="1752950" y="3005100"/>
            <a:ext cx="6109200" cy="3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5" name="Google Shape;215;p14"/>
          <p:cNvSpPr txBox="1"/>
          <p:nvPr>
            <p:ph idx="1" type="subTitle"/>
          </p:nvPr>
        </p:nvSpPr>
        <p:spPr>
          <a:xfrm>
            <a:off x="1752950" y="1764900"/>
            <a:ext cx="6109200" cy="12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accent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6" name="Google Shape;216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 txBox="1"/>
          <p:nvPr>
            <p:ph idx="1" type="subTitle"/>
          </p:nvPr>
        </p:nvSpPr>
        <p:spPr>
          <a:xfrm>
            <a:off x="3443750" y="3621269"/>
            <a:ext cx="5010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" type="subTitle"/>
          </p:nvPr>
        </p:nvSpPr>
        <p:spPr>
          <a:xfrm>
            <a:off x="3051250" y="2638350"/>
            <a:ext cx="5010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3" type="subTitle"/>
          </p:nvPr>
        </p:nvSpPr>
        <p:spPr>
          <a:xfrm>
            <a:off x="3051250" y="2330425"/>
            <a:ext cx="50103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4" type="subTitle"/>
          </p:nvPr>
        </p:nvSpPr>
        <p:spPr>
          <a:xfrm>
            <a:off x="2624725" y="1655450"/>
            <a:ext cx="5010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5" type="subTitle"/>
          </p:nvPr>
        </p:nvSpPr>
        <p:spPr>
          <a:xfrm>
            <a:off x="2624725" y="1347525"/>
            <a:ext cx="50103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6" type="subTitle"/>
          </p:nvPr>
        </p:nvSpPr>
        <p:spPr>
          <a:xfrm>
            <a:off x="3443750" y="3313350"/>
            <a:ext cx="50103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5" name="Google Shape;245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3" name="Google Shape;253;p15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 txBox="1"/>
          <p:nvPr>
            <p:ph idx="1" type="subTitle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8" name="Google Shape;258;p16"/>
          <p:cNvSpPr txBox="1"/>
          <p:nvPr>
            <p:ph idx="2" type="subTitle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9" name="Google Shape;259;p16"/>
          <p:cNvSpPr txBox="1"/>
          <p:nvPr>
            <p:ph idx="3" type="subTitle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16"/>
          <p:cNvSpPr txBox="1"/>
          <p:nvPr>
            <p:ph idx="4" type="subTitle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1" name="Google Shape;261;p16"/>
          <p:cNvSpPr txBox="1"/>
          <p:nvPr>
            <p:ph idx="5" type="subTitle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2" name="Google Shape;262;p16"/>
          <p:cNvSpPr txBox="1"/>
          <p:nvPr>
            <p:ph idx="6" type="subTitle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16"/>
          <p:cNvSpPr txBox="1"/>
          <p:nvPr>
            <p:ph idx="7" type="subTitle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16"/>
          <p:cNvSpPr txBox="1"/>
          <p:nvPr>
            <p:ph idx="8" type="subTitle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1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16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 txBox="1"/>
          <p:nvPr>
            <p:ph idx="1" type="subTitle"/>
          </p:nvPr>
        </p:nvSpPr>
        <p:spPr>
          <a:xfrm>
            <a:off x="1679425" y="1587644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2" type="subTitle"/>
          </p:nvPr>
        </p:nvSpPr>
        <p:spPr>
          <a:xfrm>
            <a:off x="1679425" y="1269900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3" type="subTitle"/>
          </p:nvPr>
        </p:nvSpPr>
        <p:spPr>
          <a:xfrm>
            <a:off x="2536285" y="3541351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6" name="Google Shape;286;p17"/>
          <p:cNvSpPr txBox="1"/>
          <p:nvPr>
            <p:ph idx="4" type="subTitle"/>
          </p:nvPr>
        </p:nvSpPr>
        <p:spPr>
          <a:xfrm>
            <a:off x="2536286" y="3221450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7" name="Google Shape;287;p17"/>
          <p:cNvSpPr txBox="1"/>
          <p:nvPr>
            <p:ph idx="5" type="subTitle"/>
          </p:nvPr>
        </p:nvSpPr>
        <p:spPr>
          <a:xfrm>
            <a:off x="4994100" y="1577676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8" name="Google Shape;288;p17"/>
          <p:cNvSpPr txBox="1"/>
          <p:nvPr>
            <p:ph idx="6" type="subTitle"/>
          </p:nvPr>
        </p:nvSpPr>
        <p:spPr>
          <a:xfrm>
            <a:off x="4994100" y="1257775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17"/>
          <p:cNvSpPr txBox="1"/>
          <p:nvPr>
            <p:ph idx="7" type="subTitle"/>
          </p:nvPr>
        </p:nvSpPr>
        <p:spPr>
          <a:xfrm>
            <a:off x="2099975" y="2564499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0" name="Google Shape;290;p17"/>
          <p:cNvSpPr txBox="1"/>
          <p:nvPr>
            <p:ph idx="8" type="subTitle"/>
          </p:nvPr>
        </p:nvSpPr>
        <p:spPr>
          <a:xfrm>
            <a:off x="2099975" y="2244588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17"/>
          <p:cNvSpPr txBox="1"/>
          <p:nvPr>
            <p:ph idx="9" type="subTitle"/>
          </p:nvPr>
        </p:nvSpPr>
        <p:spPr>
          <a:xfrm>
            <a:off x="5414650" y="2564499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2" name="Google Shape;292;p17"/>
          <p:cNvSpPr txBox="1"/>
          <p:nvPr>
            <p:ph idx="13" type="subTitle"/>
          </p:nvPr>
        </p:nvSpPr>
        <p:spPr>
          <a:xfrm>
            <a:off x="5414650" y="2244588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17"/>
          <p:cNvSpPr txBox="1"/>
          <p:nvPr>
            <p:ph idx="14" type="subTitle"/>
          </p:nvPr>
        </p:nvSpPr>
        <p:spPr>
          <a:xfrm>
            <a:off x="5846735" y="3551319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4" name="Google Shape;294;p17"/>
          <p:cNvSpPr txBox="1"/>
          <p:nvPr>
            <p:ph idx="15" type="subTitle"/>
          </p:nvPr>
        </p:nvSpPr>
        <p:spPr>
          <a:xfrm>
            <a:off x="5846736" y="3233575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1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6" name="Google Shape;306;p1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9" name="Google Shape;309;p17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7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"/>
          <p:cNvSpPr txBox="1"/>
          <p:nvPr>
            <p:ph hasCustomPrompt="1" type="title"/>
          </p:nvPr>
        </p:nvSpPr>
        <p:spPr>
          <a:xfrm>
            <a:off x="1134200" y="686250"/>
            <a:ext cx="5341200" cy="6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4" name="Google Shape;314;p18"/>
          <p:cNvSpPr txBox="1"/>
          <p:nvPr>
            <p:ph idx="1" type="subTitle"/>
          </p:nvPr>
        </p:nvSpPr>
        <p:spPr>
          <a:xfrm>
            <a:off x="1664475" y="1323750"/>
            <a:ext cx="4810800" cy="3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1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9" name="Google Shape;329;p18"/>
          <p:cNvSpPr txBox="1"/>
          <p:nvPr>
            <p:ph hasCustomPrompt="1" idx="2" type="title"/>
          </p:nvPr>
        </p:nvSpPr>
        <p:spPr>
          <a:xfrm>
            <a:off x="2100875" y="2016175"/>
            <a:ext cx="51060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0" name="Google Shape;330;p18"/>
          <p:cNvSpPr txBox="1"/>
          <p:nvPr>
            <p:ph idx="3" type="subTitle"/>
          </p:nvPr>
        </p:nvSpPr>
        <p:spPr>
          <a:xfrm>
            <a:off x="2100875" y="2506366"/>
            <a:ext cx="5106000" cy="3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18"/>
          <p:cNvSpPr txBox="1"/>
          <p:nvPr>
            <p:ph hasCustomPrompt="1" idx="4" type="title"/>
          </p:nvPr>
        </p:nvSpPr>
        <p:spPr>
          <a:xfrm>
            <a:off x="2100875" y="3013959"/>
            <a:ext cx="51060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2" name="Google Shape;332;p18"/>
          <p:cNvSpPr txBox="1"/>
          <p:nvPr>
            <p:ph idx="5" type="subTitle"/>
          </p:nvPr>
        </p:nvSpPr>
        <p:spPr>
          <a:xfrm>
            <a:off x="2100875" y="3504150"/>
            <a:ext cx="5106000" cy="3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19"/>
          <p:cNvSpPr txBox="1"/>
          <p:nvPr>
            <p:ph hasCustomPrompt="1"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354" name="Google Shape;354;p19"/>
          <p:cNvSpPr txBox="1"/>
          <p:nvPr>
            <p:ph hasCustomPrompt="1"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 txBox="1"/>
          <p:nvPr>
            <p:ph idx="1" type="subTitle"/>
          </p:nvPr>
        </p:nvSpPr>
        <p:spPr>
          <a:xfrm>
            <a:off x="1667256" y="2355825"/>
            <a:ext cx="2891100" cy="15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20"/>
          <p:cNvSpPr txBox="1"/>
          <p:nvPr>
            <p:ph type="title"/>
          </p:nvPr>
        </p:nvSpPr>
        <p:spPr>
          <a:xfrm>
            <a:off x="1121875" y="1183920"/>
            <a:ext cx="28911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1" name="Google Shape;361;p2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2" name="Google Shape;392;p21"/>
          <p:cNvSpPr txBox="1"/>
          <p:nvPr>
            <p:ph idx="1" type="body"/>
          </p:nvPr>
        </p:nvSpPr>
        <p:spPr>
          <a:xfrm>
            <a:off x="2090500" y="1956600"/>
            <a:ext cx="5111400" cy="21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∗"/>
              <a:defRPr sz="2000">
                <a:solidFill>
                  <a:schemeClr val="accent3"/>
                </a:solidFill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 sz="1200">
                <a:solidFill>
                  <a:schemeClr val="accent3"/>
                </a:solidFill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3" name="Google Shape;393;p21"/>
          <p:cNvSpPr txBox="1"/>
          <p:nvPr>
            <p:ph idx="2" type="subTitle"/>
          </p:nvPr>
        </p:nvSpPr>
        <p:spPr>
          <a:xfrm>
            <a:off x="1676975" y="1309850"/>
            <a:ext cx="54507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4" name="Google Shape;394;p21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2"/>
          <p:cNvSpPr txBox="1"/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9" name="Google Shape;399;p22"/>
          <p:cNvSpPr txBox="1"/>
          <p:nvPr>
            <p:ph idx="1" type="subTitle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0" name="Google Shape;400;p22"/>
          <p:cNvSpPr txBox="1"/>
          <p:nvPr>
            <p:ph idx="2" type="subTitle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1" name="Google Shape;401;p2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2912425" y="3087263"/>
            <a:ext cx="44181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b="1" lang="en" sz="1200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including icons by </a:t>
            </a:r>
            <a:r>
              <a:rPr b="1" lang="en" sz="1200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b="1" lang="en" sz="1200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 u="sng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9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 1">
  <p:cSld name="CUSTOM_9_2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8_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2" name="Google Shape;452;p25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3" name="Google Shape;453;p25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454" name="Google Shape;454;p25"/>
          <p:cNvSpPr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5" name="Google Shape;455;p25"/>
          <p:cNvSpPr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9" name="Google Shape;459;p25"/>
          <p:cNvSpPr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1" name="Google Shape;461;p25"/>
          <p:cNvSpPr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3" name="Google Shape;463;p25"/>
          <p:cNvSpPr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8" name="Google Shape;468;p25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9" name="Google Shape;469;p25"/>
          <p:cNvSpPr txBox="1"/>
          <p:nvPr>
            <p:ph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0" name="Google Shape;470;p25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471" name="Google Shape;471;p25"/>
          <p:cNvSpPr txBox="1"/>
          <p:nvPr>
            <p:ph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2" name="Google Shape;472;p25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8_2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5" name="Google Shape;475;p2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6" name="Google Shape;476;p26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477" name="Google Shape;477;p26"/>
          <p:cNvSpPr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91" name="Google Shape;491;p26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2" name="Google Shape;492;p26"/>
          <p:cNvSpPr txBox="1"/>
          <p:nvPr>
            <p:ph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93" name="Google Shape;493;p26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494" name="Google Shape;494;p26"/>
          <p:cNvSpPr txBox="1"/>
          <p:nvPr>
            <p:ph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95" name="Google Shape;495;p26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8_3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8" name="Google Shape;498;p27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9" name="Google Shape;499;p27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500" name="Google Shape;500;p27"/>
          <p:cNvSpPr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1" name="Google Shape;501;p27"/>
          <p:cNvSpPr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6" name="Google Shape;506;p27"/>
          <p:cNvSpPr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12" name="Google Shape;512;p27"/>
          <p:cNvSpPr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14" name="Google Shape;514;p27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5" name="Google Shape;515;p27"/>
          <p:cNvSpPr txBox="1"/>
          <p:nvPr>
            <p:ph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6" name="Google Shape;516;p27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517" name="Google Shape;517;p27"/>
          <p:cNvSpPr txBox="1"/>
          <p:nvPr>
            <p:ph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8" name="Google Shape;518;p27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8_4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1" name="Google Shape;521;p28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2" name="Google Shape;522;p28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523" name="Google Shape;523;p28"/>
          <p:cNvSpPr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2" name="Google Shape;532;p28"/>
          <p:cNvSpPr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7" name="Google Shape;537;p28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8" name="Google Shape;538;p28"/>
          <p:cNvSpPr txBox="1"/>
          <p:nvPr>
            <p:ph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9" name="Google Shape;539;p28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540" name="Google Shape;540;p28"/>
          <p:cNvSpPr txBox="1"/>
          <p:nvPr>
            <p:ph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41" name="Google Shape;541;p28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8_5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44" name="Google Shape;544;p2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45" name="Google Shape;545;p29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546" name="Google Shape;546;p29"/>
          <p:cNvSpPr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7" name="Google Shape;547;p29"/>
          <p:cNvSpPr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8" name="Google Shape;548;p29"/>
          <p:cNvSpPr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0" name="Google Shape;550;p29"/>
          <p:cNvSpPr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1" name="Google Shape;551;p29"/>
          <p:cNvSpPr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2" name="Google Shape;552;p29"/>
          <p:cNvSpPr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4" name="Google Shape;554;p29"/>
          <p:cNvSpPr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5" name="Google Shape;555;p29"/>
          <p:cNvSpPr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6" name="Google Shape;556;p29"/>
          <p:cNvSpPr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7" name="Google Shape;557;p29"/>
          <p:cNvSpPr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8" name="Google Shape;558;p29"/>
          <p:cNvSpPr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0" name="Google Shape;560;p29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1" name="Google Shape;561;p29"/>
          <p:cNvSpPr txBox="1"/>
          <p:nvPr>
            <p:ph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62" name="Google Shape;562;p29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563" name="Google Shape;563;p29"/>
          <p:cNvSpPr txBox="1"/>
          <p:nvPr>
            <p:ph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64" name="Google Shape;564;p29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0"/>
          <p:cNvSpPr txBox="1"/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SC2001 </a:t>
            </a:r>
            <a:r>
              <a:rPr lang="en">
                <a:solidFill>
                  <a:schemeClr val="accent2"/>
                </a:solidFill>
              </a:rPr>
              <a:t>‘Project 1’ </a:t>
            </a:r>
            <a:r>
              <a:rPr lang="en">
                <a:solidFill>
                  <a:schemeClr val="accent3"/>
                </a:solidFill>
              </a:rPr>
              <a:t>{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70" name="Google Shape;570;p30"/>
          <p:cNvSpPr txBox="1"/>
          <p:nvPr>
            <p:ph idx="1" type="subTitle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Group Members: Chelyn (U2523007F), </a:t>
            </a:r>
            <a:br>
              <a:rPr lang="en"/>
            </a:br>
            <a:r>
              <a:rPr lang="en"/>
              <a:t>	Ryan (U2522244E), Kyaw Lin (U2520058L) &gt;</a:t>
            </a:r>
            <a:endParaRPr/>
          </a:p>
        </p:txBody>
      </p:sp>
      <p:sp>
        <p:nvSpPr>
          <p:cNvPr id="571" name="Google Shape;571;p30"/>
          <p:cNvSpPr txBox="1"/>
          <p:nvPr>
            <p:ph idx="1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72" name="Google Shape;572;p30"/>
          <p:cNvSpPr txBox="1"/>
          <p:nvPr>
            <p:ph idx="2" type="subTitle"/>
          </p:nvPr>
        </p:nvSpPr>
        <p:spPr>
          <a:xfrm>
            <a:off x="1833925" y="1915475"/>
            <a:ext cx="5788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[</a:t>
            </a:r>
            <a:r>
              <a:rPr lang="en">
                <a:solidFill>
                  <a:schemeClr val="accent1"/>
                </a:solidFill>
              </a:rPr>
              <a:t>Integration of Merge Sort &amp; </a:t>
            </a:r>
            <a:r>
              <a:rPr lang="en">
                <a:solidFill>
                  <a:schemeClr val="lt2"/>
                </a:solidFill>
              </a:rPr>
              <a:t>Insertion Sort</a:t>
            </a:r>
            <a:r>
              <a:rPr lang="en">
                <a:solidFill>
                  <a:schemeClr val="accent6"/>
                </a:solidFill>
              </a:rPr>
              <a:t>] </a:t>
            </a:r>
            <a:endParaRPr>
              <a:solidFill>
                <a:schemeClr val="accent6"/>
              </a:solidFill>
            </a:endParaRPr>
          </a:p>
        </p:txBody>
      </p:sp>
      <p:grpSp>
        <p:nvGrpSpPr>
          <p:cNvPr id="573" name="Google Shape;573;p30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574" name="Google Shape;574;p30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5" name="Google Shape;575;p30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576" name="Google Shape;576;p30"/>
          <p:cNvSpPr txBox="1"/>
          <p:nvPr>
            <p:ph idx="1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title</a:t>
            </a:r>
            <a:r>
              <a:rPr lang="en" sz="1400">
                <a:solidFill>
                  <a:schemeClr val="accent3"/>
                </a:solidFill>
              </a:rPr>
              <a:t>.</a:t>
            </a:r>
            <a:r>
              <a:rPr lang="en" sz="1400"/>
              <a:t>py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77" name="Google Shape;577;p30"/>
          <p:cNvSpPr txBox="1"/>
          <p:nvPr>
            <p:ph idx="1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1"/>
          <p:cNvSpPr txBox="1"/>
          <p:nvPr>
            <p:ph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83" name="Google Shape;583;p31"/>
          <p:cNvSpPr txBox="1"/>
          <p:nvPr>
            <p:ph idx="1" type="subTitle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MergeSort and InsertionSort Algorithm</a:t>
            </a:r>
            <a:r>
              <a:rPr lang="en"/>
              <a:t> &gt;</a:t>
            </a:r>
            <a:endParaRPr/>
          </a:p>
        </p:txBody>
      </p:sp>
      <p:sp>
        <p:nvSpPr>
          <p:cNvPr id="584" name="Google Shape;584;p31"/>
          <p:cNvSpPr txBox="1"/>
          <p:nvPr>
            <p:ph idx="2" type="subTitle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Algorithm</a:t>
            </a:r>
            <a:endParaRPr/>
          </a:p>
        </p:txBody>
      </p:sp>
      <p:sp>
        <p:nvSpPr>
          <p:cNvPr id="585" name="Google Shape;585;p31"/>
          <p:cNvSpPr txBox="1"/>
          <p:nvPr>
            <p:ph idx="3" type="title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en"/>
              <a:t>2</a:t>
            </a:r>
            <a:endParaRPr/>
          </a:p>
        </p:txBody>
      </p:sp>
      <p:sp>
        <p:nvSpPr>
          <p:cNvPr id="586" name="Google Shape;586;p31"/>
          <p:cNvSpPr txBox="1"/>
          <p:nvPr>
            <p:ph idx="5" type="subTitle"/>
          </p:nvPr>
        </p:nvSpPr>
        <p:spPr>
          <a:xfrm>
            <a:off x="3722225" y="2419850"/>
            <a:ext cx="3936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Complexity Analysis</a:t>
            </a:r>
            <a:endParaRPr/>
          </a:p>
        </p:txBody>
      </p:sp>
      <p:sp>
        <p:nvSpPr>
          <p:cNvPr id="587" name="Google Shape;587;p31"/>
          <p:cNvSpPr txBox="1"/>
          <p:nvPr>
            <p:ph idx="6" type="title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8" name="Google Shape;588;p31"/>
          <p:cNvSpPr txBox="1"/>
          <p:nvPr>
            <p:ph idx="7" type="subTitle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Comparison with existing MergeSort </a:t>
            </a:r>
            <a:r>
              <a:rPr lang="en"/>
              <a:t>&gt;</a:t>
            </a:r>
            <a:endParaRPr/>
          </a:p>
        </p:txBody>
      </p:sp>
      <p:sp>
        <p:nvSpPr>
          <p:cNvPr id="589" name="Google Shape;589;p31"/>
          <p:cNvSpPr txBox="1"/>
          <p:nvPr>
            <p:ph idx="8" type="subTitle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</p:txBody>
      </p:sp>
      <p:sp>
        <p:nvSpPr>
          <p:cNvPr id="590" name="Google Shape;590;p31"/>
          <p:cNvSpPr txBox="1"/>
          <p:nvPr>
            <p:ph idx="9"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able Of </a:t>
            </a:r>
            <a:r>
              <a:rPr lang="en">
                <a:solidFill>
                  <a:schemeClr val="accent2"/>
                </a:solidFill>
              </a:rPr>
              <a:t>‘Contents’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grpSp>
        <p:nvGrpSpPr>
          <p:cNvPr id="591" name="Google Shape;591;p31"/>
          <p:cNvGrpSpPr/>
          <p:nvPr/>
        </p:nvGrpSpPr>
        <p:grpSpPr>
          <a:xfrm>
            <a:off x="1084825" y="1168950"/>
            <a:ext cx="506100" cy="3401075"/>
            <a:chOff x="1084825" y="1168950"/>
            <a:chExt cx="506100" cy="3401075"/>
          </a:xfrm>
        </p:grpSpPr>
        <p:sp>
          <p:nvSpPr>
            <p:cNvPr id="592" name="Google Shape;592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93" name="Google Shape;593;p31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4" name="Google Shape;594;p31"/>
          <p:cNvSpPr txBox="1"/>
          <p:nvPr>
            <p:ph idx="1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95" name="Google Shape;595;p31"/>
          <p:cNvSpPr txBox="1"/>
          <p:nvPr>
            <p:ph idx="1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title</a:t>
            </a:r>
            <a:r>
              <a:rPr lang="en" sz="1400">
                <a:solidFill>
                  <a:schemeClr val="accent3"/>
                </a:solidFill>
              </a:rPr>
              <a:t>.</a:t>
            </a:r>
            <a:r>
              <a:rPr lang="en" sz="1400"/>
              <a:t>py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96" name="Google Shape;596;p31"/>
          <p:cNvSpPr txBox="1"/>
          <p:nvPr>
            <p:ph idx="1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2"/>
          <p:cNvSpPr txBox="1"/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Introduction;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02" name="Google Shape;602;p32"/>
          <p:cNvSpPr txBox="1"/>
          <p:nvPr>
            <p:ph idx="1" type="subTitle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449116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&lt;</a:t>
            </a:r>
            <a:r>
              <a:rPr lang="en">
                <a:solidFill>
                  <a:schemeClr val="accent1"/>
                </a:solidFill>
              </a:rPr>
              <a:t>p</a:t>
            </a:r>
            <a:r>
              <a:rPr lang="en">
                <a:solidFill>
                  <a:schemeClr val="accent3"/>
                </a:solidFill>
              </a:rPr>
              <a:t> Our Hybrid Algorithm implemented using python, using both Merge Sort and Insertion Sort, selecting based on the variable S &gt;</a:t>
            </a:r>
            <a:endParaRPr>
              <a:solidFill>
                <a:schemeClr val="accent3"/>
              </a:solidFill>
            </a:endParaRPr>
          </a:p>
        </p:txBody>
      </p:sp>
      <p:grpSp>
        <p:nvGrpSpPr>
          <p:cNvPr id="603" name="Google Shape;603;p32"/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604" name="Google Shape;604;p32"/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605" name="Google Shape;605;p32"/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6" name="Google Shape;606;p32"/>
          <p:cNvGrpSpPr/>
          <p:nvPr/>
        </p:nvGrpSpPr>
        <p:grpSpPr>
          <a:xfrm>
            <a:off x="2008321" y="2971150"/>
            <a:ext cx="667800" cy="902750"/>
            <a:chOff x="2008321" y="2971150"/>
            <a:chExt cx="667800" cy="902750"/>
          </a:xfrm>
        </p:grpSpPr>
        <p:cxnSp>
          <p:nvCxnSpPr>
            <p:cNvPr id="607" name="Google Shape;607;p32"/>
            <p:cNvCxnSpPr/>
            <p:nvPr/>
          </p:nvCxnSpPr>
          <p:spPr>
            <a:xfrm>
              <a:off x="2280025" y="2971150"/>
              <a:ext cx="0" cy="5217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8" name="Google Shape;608;p32"/>
            <p:cNvSpPr txBox="1"/>
            <p:nvPr/>
          </p:nvSpPr>
          <p:spPr>
            <a:xfrm>
              <a:off x="2008321" y="3473700"/>
              <a:ext cx="667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">
                  <a:solidFill>
                    <a:schemeClr val="accent1"/>
                  </a:solidFill>
                  <a:latin typeface="Fira Code"/>
                  <a:ea typeface="Fira Code"/>
                  <a:cs typeface="Fira Code"/>
                  <a:sym typeface="Fira Code"/>
                </a:rPr>
                <a:t>/p</a:t>
              </a:r>
              <a:r>
                <a:rPr lang="en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609" name="Google Shape;609;p32"/>
          <p:cNvSpPr txBox="1"/>
          <p:nvPr>
            <p:ph idx="1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10" name="Google Shape;610;p32"/>
          <p:cNvSpPr txBox="1"/>
          <p:nvPr>
            <p:ph idx="1" type="subTitle"/>
          </p:nvPr>
        </p:nvSpPr>
        <p:spPr>
          <a:xfrm>
            <a:off x="458104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11" name="Google Shape;611;p32"/>
          <p:cNvSpPr txBox="1"/>
          <p:nvPr>
            <p:ph idx="1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</a:rPr>
              <a:t>title.py</a:t>
            </a:r>
            <a:endParaRPr sz="14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3"/>
          <p:cNvSpPr txBox="1"/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01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617" name="Google Shape;617;p33"/>
          <p:cNvSpPr txBox="1"/>
          <p:nvPr>
            <p:ph idx="2" type="title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[</a:t>
            </a:r>
            <a:r>
              <a:rPr lang="en">
                <a:solidFill>
                  <a:schemeClr val="accent1"/>
                </a:solidFill>
              </a:rPr>
              <a:t>Hybrid Algorithm</a:t>
            </a:r>
            <a:r>
              <a:rPr lang="en">
                <a:solidFill>
                  <a:schemeClr val="accent6"/>
                </a:solidFill>
              </a:rPr>
              <a:t>]</a:t>
            </a:r>
            <a:r>
              <a:rPr lang="en">
                <a:solidFill>
                  <a:schemeClr val="accent1"/>
                </a:solidFill>
              </a:rPr>
              <a:t> 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18" name="Google Shape;618;p33"/>
          <p:cNvSpPr txBox="1"/>
          <p:nvPr>
            <p:ph idx="1" type="subTitle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MergeSort and InsertionSort Algorithm &gt;</a:t>
            </a:r>
            <a:endParaRPr/>
          </a:p>
        </p:txBody>
      </p:sp>
      <p:sp>
        <p:nvSpPr>
          <p:cNvPr id="619" name="Google Shape;619;p33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620" name="Google Shape;620;p33"/>
          <p:cNvCxnSpPr>
            <a:endCxn id="619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p33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22" name="Google Shape;622;p33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</a:rPr>
              <a:t>title.py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623" name="Google Shape;623;p33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4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HybridMergeSort</a:t>
            </a:r>
            <a:r>
              <a:rPr lang="en">
                <a:solidFill>
                  <a:schemeClr val="accent1"/>
                </a:solidFill>
              </a:rPr>
              <a:t>()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29" name="Google Shape;629;p34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30" name="Google Shape;630;p34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functions.py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631" name="Google Shape;631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632" name="Google Shape;63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50" y="1119188"/>
            <a:ext cx="7048500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34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title.py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5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InsertionSort</a:t>
            </a:r>
            <a:r>
              <a:rPr lang="en">
                <a:solidFill>
                  <a:schemeClr val="accent1"/>
                </a:solidFill>
              </a:rPr>
              <a:t>()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39" name="Google Shape;639;p35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0" name="Google Shape;640;p35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functions.py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641" name="Google Shape;641;p35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2" name="Google Shape;642;p35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643" name="Google Shape;6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7701" y="1276300"/>
            <a:ext cx="7551417" cy="267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6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InsertionSort</a:t>
            </a:r>
            <a:r>
              <a:rPr lang="en">
                <a:solidFill>
                  <a:schemeClr val="accent1"/>
                </a:solidFill>
              </a:rPr>
              <a:t>()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49" name="Google Shape;649;p36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50" name="Google Shape;650;p36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functions.py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651" name="Google Shape;651;p36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2" name="Google Shape;652;p36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653" name="Google Shape;65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8350" y="1205350"/>
            <a:ext cx="5490125" cy="27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7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Merge</a:t>
            </a:r>
            <a:r>
              <a:rPr lang="en">
                <a:solidFill>
                  <a:schemeClr val="accent1"/>
                </a:solidFill>
              </a:rPr>
              <a:t>()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59" name="Google Shape;659;p37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60" name="Google Shape;660;p37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functions.py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661" name="Google Shape;661;p37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2" name="Google Shape;662;p37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663" name="Google Shape;66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900" y="1086475"/>
            <a:ext cx="3945533" cy="326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2575" y="1105638"/>
            <a:ext cx="3263975" cy="3227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8"/>
          <p:cNvSpPr txBox="1"/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02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670" name="Google Shape;670;p38"/>
          <p:cNvSpPr txBox="1"/>
          <p:nvPr>
            <p:ph idx="2" type="title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[</a:t>
            </a:r>
            <a:r>
              <a:rPr lang="en">
                <a:solidFill>
                  <a:schemeClr val="lt2"/>
                </a:solidFill>
              </a:rPr>
              <a:t>Time Complexity Analysis</a:t>
            </a:r>
            <a:r>
              <a:rPr lang="en">
                <a:solidFill>
                  <a:schemeClr val="accent6"/>
                </a:solidFill>
              </a:rPr>
              <a:t>]</a:t>
            </a:r>
            <a:r>
              <a:rPr lang="en">
                <a:solidFill>
                  <a:schemeClr val="accent1"/>
                </a:solidFill>
              </a:rPr>
              <a:t> 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71" name="Google Shape;671;p38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672" name="Google Shape;672;p38"/>
          <p:cNvCxnSpPr>
            <a:endCxn id="671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38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74" name="Google Shape;674;p38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</a:rPr>
              <a:t>title.py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675" name="Google Shape;675;p38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9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65185" lvl="0" marL="341343" rtl="0" algn="l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n">
                <a:solidFill>
                  <a:schemeClr val="accent3"/>
                </a:solidFill>
              </a:rPr>
              <a:t>O(nS + n log​ n/S) 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81" name="Google Shape;681;p39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Theoretical Analysis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82" name="Google Shape;682;p39"/>
          <p:cNvSpPr txBox="1"/>
          <p:nvPr>
            <p:ph idx="2" type="title"/>
          </p:nvPr>
        </p:nvSpPr>
        <p:spPr>
          <a:xfrm flipH="1">
            <a:off x="2091225" y="2372275"/>
            <a:ext cx="1401900" cy="4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Worst Case&gt;</a:t>
            </a:r>
            <a:endParaRPr/>
          </a:p>
        </p:txBody>
      </p:sp>
      <p:sp>
        <p:nvSpPr>
          <p:cNvPr id="683" name="Google Shape;683;p39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65185" lvl="0" marL="341343" rtl="0" algn="l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n">
                <a:solidFill>
                  <a:schemeClr val="accent3"/>
                </a:solidFill>
              </a:rPr>
              <a:t>O(n + n log​ n/S) 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84" name="Google Shape;684;p39"/>
          <p:cNvSpPr txBox="1"/>
          <p:nvPr>
            <p:ph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Best case &gt;</a:t>
            </a:r>
            <a:endParaRPr/>
          </a:p>
        </p:txBody>
      </p:sp>
      <p:sp>
        <p:nvSpPr>
          <p:cNvPr id="685" name="Google Shape;685;p39"/>
          <p:cNvSpPr txBox="1"/>
          <p:nvPr>
            <p:ph idx="5" type="subTitle"/>
          </p:nvPr>
        </p:nvSpPr>
        <p:spPr>
          <a:xfrm>
            <a:off x="2257645" y="1257775"/>
            <a:ext cx="5922000" cy="5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>
                <a:solidFill>
                  <a:schemeClr val="lt2"/>
                </a:solidFill>
              </a:rPr>
              <a:t>HybridSort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number of elements, S = insertion sort threshold, 1 &lt;= S &lt;= n </a:t>
            </a:r>
            <a:endParaRPr/>
          </a:p>
        </p:txBody>
      </p:sp>
      <p:sp>
        <p:nvSpPr>
          <p:cNvPr id="686" name="Google Shape;686;p39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87" name="Google Shape;687;p39"/>
          <p:cNvSpPr txBox="1"/>
          <p:nvPr>
            <p:ph idx="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688" name="Google Shape;688;p39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689" name="Google Shape;689;p3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690" name="Google Shape;690;p39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91" name="Google Shape;691;p39"/>
          <p:cNvSpPr txBox="1"/>
          <p:nvPr>
            <p:ph idx="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92" name="Google Shape;692;p39"/>
          <p:cNvSpPr txBox="1"/>
          <p:nvPr>
            <p:ph idx="5" type="subTitle"/>
          </p:nvPr>
        </p:nvSpPr>
        <p:spPr>
          <a:xfrm>
            <a:off x="2257645" y="1815025"/>
            <a:ext cx="5922000" cy="5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n/S is the number of small subarrays produced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0"/>
          <p:cNvSpPr/>
          <p:nvPr/>
        </p:nvSpPr>
        <p:spPr>
          <a:xfrm>
            <a:off x="1761978" y="117426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title.py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98" name="Google Shape;698;p40"/>
          <p:cNvSpPr/>
          <p:nvPr/>
        </p:nvSpPr>
        <p:spPr>
          <a:xfrm>
            <a:off x="6143478" y="117426"/>
            <a:ext cx="2476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experiment.py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99" name="Google Shape;699;p40"/>
          <p:cNvSpPr/>
          <p:nvPr/>
        </p:nvSpPr>
        <p:spPr>
          <a:xfrm>
            <a:off x="752328" y="4727526"/>
            <a:ext cx="619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SC2001 Project 1</a:t>
            </a:r>
            <a:endParaRPr/>
          </a:p>
        </p:txBody>
      </p:sp>
      <p:sp>
        <p:nvSpPr>
          <p:cNvPr id="700" name="Google Shape;700;p40"/>
          <p:cNvSpPr/>
          <p:nvPr/>
        </p:nvSpPr>
        <p:spPr>
          <a:xfrm>
            <a:off x="1171428" y="717501"/>
            <a:ext cx="7429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5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c(i): fixed S = 16 {</a:t>
            </a:r>
            <a:endParaRPr/>
          </a:p>
        </p:txBody>
      </p:sp>
      <p:sp>
        <p:nvSpPr>
          <p:cNvPr id="701" name="Google Shape;701;p40"/>
          <p:cNvSpPr/>
          <p:nvPr/>
        </p:nvSpPr>
        <p:spPr>
          <a:xfrm>
            <a:off x="1171428" y="4156026"/>
            <a:ext cx="4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graphicFrame>
        <p:nvGraphicFramePr>
          <p:cNvPr id="702" name="Google Shape;702;p40"/>
          <p:cNvGraphicFramePr/>
          <p:nvPr/>
        </p:nvGraphicFramePr>
        <p:xfrm>
          <a:off x="1428603" y="1450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{577E4A25-40E0-4266-8125-3624E40FF983}</a:tableStyleId>
              </a:tblPr>
              <a:tblGrid>
                <a:gridCol w="1333500"/>
                <a:gridCol w="20955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 u="none" cap="none" strike="noStrike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n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 u="none" cap="none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Comparisons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1,000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10,430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10,000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126,937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100,000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1,638,835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1,000,000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20,211,915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10,000,000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226,342,626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</a:tbl>
          </a:graphicData>
        </a:graphic>
      </p:graphicFrame>
      <p:pic>
        <p:nvPicPr>
          <p:cNvPr id="703" name="Google Shape;70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103" y="1260276"/>
            <a:ext cx="3429000" cy="23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0"/>
          <p:cNvSpPr/>
          <p:nvPr/>
        </p:nvSpPr>
        <p:spPr>
          <a:xfrm>
            <a:off x="1428603" y="3533326"/>
            <a:ext cx="704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A5CF27"/>
                </a:solidFill>
                <a:latin typeface="Fira Code"/>
                <a:ea typeface="Fira Code"/>
                <a:cs typeface="Fira Code"/>
                <a:sym typeface="Fira Code"/>
              </a:rPr>
              <a:t>Comparisons / (n log₂ n): 0.96 to 1.05</a:t>
            </a:r>
            <a:endParaRPr/>
          </a:p>
        </p:txBody>
      </p:sp>
      <p:sp>
        <p:nvSpPr>
          <p:cNvPr id="705" name="Google Shape;705;p40"/>
          <p:cNvSpPr/>
          <p:nvPr/>
        </p:nvSpPr>
        <p:spPr>
          <a:xfrm>
            <a:off x="1460453" y="3838126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With fixed S, the results support O(n log n)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1"/>
          <p:cNvSpPr/>
          <p:nvPr/>
        </p:nvSpPr>
        <p:spPr>
          <a:xfrm>
            <a:off x="1761978" y="117426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title.py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11" name="Google Shape;711;p41"/>
          <p:cNvSpPr/>
          <p:nvPr/>
        </p:nvSpPr>
        <p:spPr>
          <a:xfrm>
            <a:off x="6143478" y="117426"/>
            <a:ext cx="2476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experiment.py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12" name="Google Shape;712;p41"/>
          <p:cNvSpPr/>
          <p:nvPr/>
        </p:nvSpPr>
        <p:spPr>
          <a:xfrm>
            <a:off x="752328" y="4727526"/>
            <a:ext cx="619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SC2001 Project 1</a:t>
            </a:r>
            <a:endParaRPr/>
          </a:p>
        </p:txBody>
      </p:sp>
      <p:sp>
        <p:nvSpPr>
          <p:cNvPr id="713" name="Google Shape;713;p41"/>
          <p:cNvSpPr/>
          <p:nvPr/>
        </p:nvSpPr>
        <p:spPr>
          <a:xfrm>
            <a:off x="1171428" y="717501"/>
            <a:ext cx="7429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5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c(ii): fixed n = 100,000 {</a:t>
            </a:r>
            <a:endParaRPr/>
          </a:p>
        </p:txBody>
      </p:sp>
      <p:sp>
        <p:nvSpPr>
          <p:cNvPr id="714" name="Google Shape;714;p41"/>
          <p:cNvSpPr/>
          <p:nvPr/>
        </p:nvSpPr>
        <p:spPr>
          <a:xfrm>
            <a:off x="1171428" y="4156026"/>
            <a:ext cx="4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pic>
        <p:nvPicPr>
          <p:cNvPr id="715" name="Google Shape;71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978" y="1441401"/>
            <a:ext cx="45720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41"/>
          <p:cNvSpPr/>
          <p:nvPr/>
        </p:nvSpPr>
        <p:spPr>
          <a:xfrm>
            <a:off x="6143478" y="1489026"/>
            <a:ext cx="2571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5CF27"/>
                </a:solidFill>
                <a:latin typeface="Fira Code"/>
                <a:ea typeface="Fira Code"/>
                <a:cs typeface="Fira Code"/>
                <a:sym typeface="Fira Code"/>
              </a:rPr>
              <a:t>Increasing S</a:t>
            </a:r>
            <a:endParaRPr/>
          </a:p>
        </p:txBody>
      </p:sp>
      <p:sp>
        <p:nvSpPr>
          <p:cNvPr id="717" name="Google Shape;717;p41"/>
          <p:cNvSpPr/>
          <p:nvPr/>
        </p:nvSpPr>
        <p:spPr>
          <a:xfrm>
            <a:off x="6143478" y="2012901"/>
            <a:ext cx="24765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Fewer merge levels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5">
              <a:solidFill>
                <a:srgbClr val="E7E7E7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Larger insertion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subarrays</a:t>
            </a:r>
            <a:endParaRPr/>
          </a:p>
        </p:txBody>
      </p:sp>
      <p:sp>
        <p:nvSpPr>
          <p:cNvPr id="718" name="Google Shape;718;p41"/>
          <p:cNvSpPr/>
          <p:nvPr/>
        </p:nvSpPr>
        <p:spPr>
          <a:xfrm>
            <a:off x="6167328" y="3102401"/>
            <a:ext cx="2524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1.54m to 3.51m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comparisons</a:t>
            </a:r>
            <a:endParaRPr/>
          </a:p>
        </p:txBody>
      </p:sp>
      <p:sp>
        <p:nvSpPr>
          <p:cNvPr id="719" name="Google Shape;719;p41"/>
          <p:cNvSpPr/>
          <p:nvPr/>
        </p:nvSpPr>
        <p:spPr>
          <a:xfrm>
            <a:off x="1380978" y="3870126"/>
            <a:ext cx="723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O(n log₂(n/S) + nS): insertion work dominates at large 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2"/>
          <p:cNvSpPr/>
          <p:nvPr/>
        </p:nvSpPr>
        <p:spPr>
          <a:xfrm>
            <a:off x="1761978" y="117426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title.py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25" name="Google Shape;725;p42"/>
          <p:cNvSpPr/>
          <p:nvPr/>
        </p:nvSpPr>
        <p:spPr>
          <a:xfrm>
            <a:off x="6143478" y="117426"/>
            <a:ext cx="2476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experiment.py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26" name="Google Shape;726;p42"/>
          <p:cNvSpPr/>
          <p:nvPr/>
        </p:nvSpPr>
        <p:spPr>
          <a:xfrm>
            <a:off x="752328" y="4727526"/>
            <a:ext cx="619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SC2001 Project 1</a:t>
            </a:r>
            <a:endParaRPr/>
          </a:p>
        </p:txBody>
      </p:sp>
      <p:sp>
        <p:nvSpPr>
          <p:cNvPr id="727" name="Google Shape;727;p42"/>
          <p:cNvSpPr/>
          <p:nvPr/>
        </p:nvSpPr>
        <p:spPr>
          <a:xfrm>
            <a:off x="1171428" y="717501"/>
            <a:ext cx="7429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5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c(iii): CPU timing method {</a:t>
            </a:r>
            <a:endParaRPr/>
          </a:p>
        </p:txBody>
      </p:sp>
      <p:sp>
        <p:nvSpPr>
          <p:cNvPr id="728" name="Google Shape;728;p42"/>
          <p:cNvSpPr/>
          <p:nvPr/>
        </p:nvSpPr>
        <p:spPr>
          <a:xfrm>
            <a:off x="1171428" y="4156026"/>
            <a:ext cx="4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729" name="Google Shape;729;p42"/>
          <p:cNvSpPr/>
          <p:nvPr/>
        </p:nvSpPr>
        <p:spPr>
          <a:xfrm>
            <a:off x="1438128" y="1346151"/>
            <a:ext cx="70485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5">
                <a:solidFill>
                  <a:srgbClr val="72D9F0"/>
                </a:solidFill>
                <a:latin typeface="Fira Code"/>
                <a:ea typeface="Fira Code"/>
                <a:cs typeface="Fira Code"/>
                <a:sym typeface="Fira Code"/>
              </a:rPr>
              <a:t>n = 100,000 and 1,000,000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5">
                <a:solidFill>
                  <a:srgbClr val="72D9F0"/>
                </a:solidFill>
                <a:latin typeface="Fira Code"/>
                <a:ea typeface="Fira Code"/>
                <a:cs typeface="Fira Code"/>
                <a:sym typeface="Fira Code"/>
              </a:rPr>
              <a:t>S = 1, 2, 4, 8, 16, 32, 64, 128</a:t>
            </a:r>
            <a:endParaRPr/>
          </a:p>
        </p:txBody>
      </p:sp>
      <p:sp>
        <p:nvSpPr>
          <p:cNvPr id="730" name="Google Shape;730;p42"/>
          <p:cNvSpPr/>
          <p:nvPr/>
        </p:nvSpPr>
        <p:spPr>
          <a:xfrm>
            <a:off x="1438128" y="2251026"/>
            <a:ext cx="7048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1. Copy the same unsorted input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2. Time HybridMergeSort only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3. Repeat three times and take the mean</a:t>
            </a:r>
            <a:endParaRPr/>
          </a:p>
        </p:txBody>
      </p:sp>
      <p:sp>
        <p:nvSpPr>
          <p:cNvPr id="731" name="Google Shape;731;p42"/>
          <p:cNvSpPr/>
          <p:nvPr/>
        </p:nvSpPr>
        <p:spPr>
          <a:xfrm>
            <a:off x="1438128" y="3470226"/>
            <a:ext cx="7048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5">
                <a:solidFill>
                  <a:srgbClr val="A5CF27"/>
                </a:solidFill>
                <a:latin typeface="Fira Code"/>
                <a:ea typeface="Fira Code"/>
                <a:cs typeface="Fira Code"/>
                <a:sym typeface="Fira Code"/>
              </a:rPr>
              <a:t>Example: n = 1,000,000, S = 16</a:t>
            </a:r>
            <a:endParaRPr/>
          </a:p>
        </p:txBody>
      </p:sp>
      <p:sp>
        <p:nvSpPr>
          <p:cNvPr id="732" name="Google Shape;732;p42"/>
          <p:cNvSpPr/>
          <p:nvPr/>
        </p:nvSpPr>
        <p:spPr>
          <a:xfrm>
            <a:off x="1438128" y="3889326"/>
            <a:ext cx="714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(1.71875 + 1.62500 + 1.68750) / 3 = 1.67708 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3"/>
          <p:cNvSpPr/>
          <p:nvPr/>
        </p:nvSpPr>
        <p:spPr>
          <a:xfrm>
            <a:off x="1761978" y="117426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title.py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38" name="Google Shape;738;p43"/>
          <p:cNvSpPr/>
          <p:nvPr/>
        </p:nvSpPr>
        <p:spPr>
          <a:xfrm>
            <a:off x="6143478" y="117426"/>
            <a:ext cx="2476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experiment.py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39" name="Google Shape;739;p43"/>
          <p:cNvSpPr/>
          <p:nvPr/>
        </p:nvSpPr>
        <p:spPr>
          <a:xfrm>
            <a:off x="752328" y="4727526"/>
            <a:ext cx="619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SC2001 Project 1</a:t>
            </a:r>
            <a:endParaRPr/>
          </a:p>
        </p:txBody>
      </p:sp>
      <p:sp>
        <p:nvSpPr>
          <p:cNvPr id="740" name="Google Shape;740;p43"/>
          <p:cNvSpPr/>
          <p:nvPr/>
        </p:nvSpPr>
        <p:spPr>
          <a:xfrm>
            <a:off x="1171428" y="717501"/>
            <a:ext cx="7429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5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c(iii): measured CPU times {</a:t>
            </a:r>
            <a:endParaRPr/>
          </a:p>
        </p:txBody>
      </p:sp>
      <p:sp>
        <p:nvSpPr>
          <p:cNvPr id="741" name="Google Shape;741;p43"/>
          <p:cNvSpPr/>
          <p:nvPr/>
        </p:nvSpPr>
        <p:spPr>
          <a:xfrm>
            <a:off x="1171428" y="4156026"/>
            <a:ext cx="4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graphicFrame>
        <p:nvGraphicFramePr>
          <p:cNvPr id="742" name="Google Shape;742;p43"/>
          <p:cNvGraphicFramePr/>
          <p:nvPr/>
        </p:nvGraphicFramePr>
        <p:xfrm>
          <a:off x="1428603" y="126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{577E4A25-40E0-4266-8125-3624E40FF983}</a:tableStyleId>
              </a:tblPr>
              <a:tblGrid>
                <a:gridCol w="523875"/>
                <a:gridCol w="1476375"/>
                <a:gridCol w="1571625"/>
              </a:tblGrid>
              <a:tr h="28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 u="none" cap="none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S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 u="none" cap="none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100k (s)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 u="none" cap="none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1m (s)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28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0.1615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2.0885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28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0.1563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1.8854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28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4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0.1563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1.7500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28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8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0.1354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1.7083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28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16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0.1406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1.6771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28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32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0.1406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1.7813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28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64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0.1667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2.1719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28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128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0.2292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2.9427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</a:tbl>
          </a:graphicData>
        </a:graphic>
      </p:graphicFrame>
      <p:pic>
        <p:nvPicPr>
          <p:cNvPr id="743" name="Google Shape;74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0978" y="1374726"/>
            <a:ext cx="3476700" cy="2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43"/>
          <p:cNvSpPr/>
          <p:nvPr/>
        </p:nvSpPr>
        <p:spPr>
          <a:xfrm>
            <a:off x="1428603" y="3860876"/>
            <a:ext cx="7143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A5CF27"/>
                </a:solidFill>
                <a:latin typeface="Fira Code"/>
                <a:ea typeface="Fira Code"/>
                <a:cs typeface="Fira Code"/>
                <a:sym typeface="Fira Code"/>
              </a:rPr>
              <a:t>Best tested: S = 8 at 100k; S = 16 at 1m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4"/>
          <p:cNvSpPr/>
          <p:nvPr/>
        </p:nvSpPr>
        <p:spPr>
          <a:xfrm>
            <a:off x="1761991" y="11431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title.py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0" name="Google Shape;750;p44"/>
          <p:cNvSpPr/>
          <p:nvPr/>
        </p:nvSpPr>
        <p:spPr>
          <a:xfrm>
            <a:off x="6143491" y="114315"/>
            <a:ext cx="2476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experiment.py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1" name="Google Shape;751;p44"/>
          <p:cNvSpPr/>
          <p:nvPr/>
        </p:nvSpPr>
        <p:spPr>
          <a:xfrm>
            <a:off x="752341" y="4724415"/>
            <a:ext cx="619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SC2001 Project 1</a:t>
            </a:r>
            <a:endParaRPr/>
          </a:p>
        </p:txBody>
      </p:sp>
      <p:sp>
        <p:nvSpPr>
          <p:cNvPr id="752" name="Google Shape;752;p44"/>
          <p:cNvSpPr/>
          <p:nvPr/>
        </p:nvSpPr>
        <p:spPr>
          <a:xfrm>
            <a:off x="1171441" y="714390"/>
            <a:ext cx="7429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5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c(iii): threshold for part (d) {</a:t>
            </a:r>
            <a:endParaRPr/>
          </a:p>
        </p:txBody>
      </p:sp>
      <p:sp>
        <p:nvSpPr>
          <p:cNvPr id="753" name="Google Shape;753;p44"/>
          <p:cNvSpPr/>
          <p:nvPr/>
        </p:nvSpPr>
        <p:spPr>
          <a:xfrm>
            <a:off x="1171441" y="4152915"/>
            <a:ext cx="4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754" name="Google Shape;754;p44"/>
          <p:cNvSpPr/>
          <p:nvPr/>
        </p:nvSpPr>
        <p:spPr>
          <a:xfrm>
            <a:off x="1438141" y="1400190"/>
            <a:ext cx="7048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5">
                <a:solidFill>
                  <a:srgbClr val="A5CF27"/>
                </a:solidFill>
                <a:latin typeface="Fira Code"/>
                <a:ea typeface="Fira Code"/>
                <a:cs typeface="Fira Code"/>
                <a:sym typeface="Fira Code"/>
              </a:rPr>
              <a:t>Candidate: S = 16</a:t>
            </a:r>
            <a:endParaRPr/>
          </a:p>
        </p:txBody>
      </p:sp>
      <p:sp>
        <p:nvSpPr>
          <p:cNvPr id="755" name="Google Shape;755;p44"/>
          <p:cNvSpPr/>
          <p:nvPr/>
        </p:nvSpPr>
        <p:spPr>
          <a:xfrm>
            <a:off x="1438141" y="1981215"/>
            <a:ext cx="7048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Lowest mean at the largest tuning size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1,000,000 elements: 1.6771 CPU seconds</a:t>
            </a:r>
            <a:endParaRPr/>
          </a:p>
        </p:txBody>
      </p:sp>
      <p:sp>
        <p:nvSpPr>
          <p:cNvPr id="756" name="Google Shape;756;p44"/>
          <p:cNvSpPr/>
          <p:nvPr/>
        </p:nvSpPr>
        <p:spPr>
          <a:xfrm>
            <a:off x="1438141" y="2695515"/>
            <a:ext cx="7143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Fewer comparisons do not guarantee less time</a:t>
            </a:r>
            <a:endParaRPr/>
          </a:p>
        </p:txBody>
      </p:sp>
      <p:sp>
        <p:nvSpPr>
          <p:cNvPr id="757" name="Google Shape;757;p44"/>
          <p:cNvSpPr/>
          <p:nvPr/>
        </p:nvSpPr>
        <p:spPr>
          <a:xfrm>
            <a:off x="1414291" y="3161715"/>
            <a:ext cx="70962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S = 1: 18.67m comparisons, 2.0885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S = 16: 20.21m comparisons, 1.6771 s</a:t>
            </a:r>
            <a:endParaRPr/>
          </a:p>
        </p:txBody>
      </p:sp>
      <p:sp>
        <p:nvSpPr>
          <p:cNvPr id="758" name="Google Shape;758;p44"/>
          <p:cNvSpPr/>
          <p:nvPr/>
        </p:nvSpPr>
        <p:spPr>
          <a:xfrm>
            <a:off x="1390441" y="3867015"/>
            <a:ext cx="7143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72D9F0"/>
                </a:solidFill>
                <a:latin typeface="Fira Code"/>
                <a:ea typeface="Fira Code"/>
                <a:cs typeface="Fira Code"/>
                <a:sym typeface="Fira Code"/>
              </a:rPr>
              <a:t>Close timings vary. S = 16 is the best tested candidate.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/>
          <p:cNvSpPr txBox="1"/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03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764" name="Google Shape;764;p45"/>
          <p:cNvSpPr txBox="1"/>
          <p:nvPr>
            <p:ph idx="2" type="title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[</a:t>
            </a:r>
            <a:r>
              <a:rPr lang="en"/>
              <a:t>Comparison</a:t>
            </a:r>
            <a:r>
              <a:rPr lang="en">
                <a:solidFill>
                  <a:schemeClr val="accent6"/>
                </a:solidFill>
              </a:rPr>
              <a:t>]</a:t>
            </a:r>
            <a:r>
              <a:rPr lang="en">
                <a:solidFill>
                  <a:schemeClr val="accent1"/>
                </a:solidFill>
              </a:rPr>
              <a:t> 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65" name="Google Shape;765;p45"/>
          <p:cNvSpPr txBox="1"/>
          <p:nvPr>
            <p:ph idx="1" type="subTitle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</a:t>
            </a:r>
            <a:r>
              <a:rPr lang="en"/>
              <a:t>Comparison with existing MergeSort</a:t>
            </a:r>
            <a:r>
              <a:rPr lang="en"/>
              <a:t> &gt;</a:t>
            </a:r>
            <a:endParaRPr/>
          </a:p>
        </p:txBody>
      </p:sp>
      <p:sp>
        <p:nvSpPr>
          <p:cNvPr id="766" name="Google Shape;766;p45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767" name="Google Shape;767;p45"/>
          <p:cNvCxnSpPr>
            <a:endCxn id="766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8" name="Google Shape;768;p45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69" name="Google Shape;769;p45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</a:rPr>
              <a:t>title.py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770" name="Google Shape;770;p45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6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MergeSort</a:t>
            </a:r>
            <a:r>
              <a:rPr lang="en">
                <a:solidFill>
                  <a:schemeClr val="accent1"/>
                </a:solidFill>
              </a:rPr>
              <a:t>()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76" name="Google Shape;776;p46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7" name="Google Shape;777;p46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functions.py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778" name="Google Shape;778;p46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9" name="Google Shape;779;p46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780" name="Google Shape;78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150" y="1257763"/>
            <a:ext cx="7103601" cy="25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7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Merge</a:t>
            </a:r>
            <a:r>
              <a:rPr lang="en">
                <a:solidFill>
                  <a:schemeClr val="accent1"/>
                </a:solidFill>
              </a:rPr>
              <a:t>()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86" name="Google Shape;786;p47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87" name="Google Shape;787;p47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functions.py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788" name="Google Shape;788;p47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9" name="Google Shape;789;p47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790" name="Google Shape;79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763" y="1088938"/>
            <a:ext cx="4180476" cy="296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8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run</a:t>
            </a:r>
            <a:r>
              <a:rPr lang="en">
                <a:solidFill>
                  <a:schemeClr val="accent1"/>
                </a:solidFill>
              </a:rPr>
              <a:t>()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96" name="Google Shape;796;p48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97" name="Google Shape;797;p48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functions.py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798" name="Google Shape;798;p48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9" name="Google Shape;799;p48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800" name="Google Shape;80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551" y="1336300"/>
            <a:ext cx="7442001" cy="232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9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HybridMergeSort</a:t>
            </a:r>
            <a:r>
              <a:rPr lang="en">
                <a:solidFill>
                  <a:schemeClr val="accent1"/>
                </a:solidFill>
              </a:rPr>
              <a:t>()</a:t>
            </a:r>
            <a:r>
              <a:rPr lang="en">
                <a:solidFill>
                  <a:schemeClr val="lt2"/>
                </a:solidFill>
              </a:rPr>
              <a:t> vs MergeSort</a:t>
            </a:r>
            <a:r>
              <a:rPr lang="en">
                <a:solidFill>
                  <a:schemeClr val="accent1"/>
                </a:solidFill>
              </a:rPr>
              <a:t>()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806" name="Google Shape;806;p49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07" name="Google Shape;807;p49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output</a:t>
            </a:r>
            <a:r>
              <a:rPr lang="en">
                <a:solidFill>
                  <a:schemeClr val="accent6"/>
                </a:solidFill>
              </a:rPr>
              <a:t>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808" name="Google Shape;808;p49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9" name="Google Shape;809;p49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810" name="Google Shape;81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138" y="1384300"/>
            <a:ext cx="7124824" cy="237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50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r>
              <a:rPr lang="en">
                <a:solidFill>
                  <a:schemeClr val="accent3"/>
                </a:solidFill>
              </a:rPr>
              <a:t>{</a:t>
            </a:r>
            <a:endParaRPr>
              <a:solidFill>
                <a:schemeClr val="accent3"/>
              </a:solidFill>
            </a:endParaRPr>
          </a:p>
        </p:txBody>
      </p:sp>
      <p:grpSp>
        <p:nvGrpSpPr>
          <p:cNvPr id="816" name="Google Shape;816;p50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817" name="Google Shape;817;p50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818" name="Google Shape;818;p50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9" name="Google Shape;819;p50"/>
          <p:cNvSpPr txBox="1"/>
          <p:nvPr>
            <p:ph idx="4294967295" type="subTitle"/>
          </p:nvPr>
        </p:nvSpPr>
        <p:spPr>
          <a:xfrm>
            <a:off x="1570575" y="1261025"/>
            <a:ext cx="6205200" cy="25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‘</a:t>
            </a:r>
            <a:r>
              <a:rPr lang="en"/>
              <a:t>The hybrid algorithm has the same O(nlog⁡n) asymptotic complexity as merge sort when S is a fixed small value, but it may achieve a lower actual runtime by using insertion sort for small subarrays. The best threshold S should be determined experimentally. </a:t>
            </a:r>
            <a:r>
              <a:rPr lang="en"/>
              <a:t>’</a:t>
            </a:r>
            <a:endParaRPr/>
          </a:p>
        </p:txBody>
      </p:sp>
      <p:sp>
        <p:nvSpPr>
          <p:cNvPr id="820" name="Google Shape;820;p50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21" name="Google Shape;821;p50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1"/>
          <p:cNvSpPr txBox="1"/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Thanks;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827" name="Google Shape;827;p51"/>
          <p:cNvSpPr txBox="1"/>
          <p:nvPr>
            <p:ph idx="2" type="subTitle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‘Do you have any questions?’</a:t>
            </a:r>
            <a:endParaRPr/>
          </a:p>
        </p:txBody>
      </p:sp>
      <p:sp>
        <p:nvSpPr>
          <p:cNvPr id="828" name="Google Shape;828;p51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1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829" name="Google Shape;829;p51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830" name="Google Shape;830;p5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831" name="Google Shape;831;p51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32" name="Google Shape;832;p51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</a:rPr>
              <a:t>title.py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833" name="Google Shape;833;p51"/>
          <p:cNvSpPr txBox="1"/>
          <p:nvPr/>
        </p:nvSpPr>
        <p:spPr>
          <a:xfrm>
            <a:off x="3383375" y="186962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2"/>
                </a:solidFill>
                <a:latin typeface="Fira Code"/>
                <a:ea typeface="Fira Code"/>
                <a:cs typeface="Fira Code"/>
                <a:sym typeface="Fira Code"/>
              </a:rPr>
              <a:t>Q &amp; A</a:t>
            </a:r>
            <a:endParaRPr sz="7400"/>
          </a:p>
        </p:txBody>
      </p:sp>
      <p:sp>
        <p:nvSpPr>
          <p:cNvPr id="834" name="Google Shape;834;p51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