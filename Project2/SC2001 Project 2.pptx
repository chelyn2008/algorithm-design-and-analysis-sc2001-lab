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Fira Cod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D09AA9-CBC0-4558-9459-706624ADDD8B}">
  <a:tblStyle styleId="{E4D09AA9-CBC0-4558-9459-706624ADDD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BBB0A65-CD4B-4173-B407-39140296A06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Code-regular.fntdata"/><Relationship Id="rId25" Type="http://schemas.openxmlformats.org/officeDocument/2006/relationships/slide" Target="slides/slide20.xml"/><Relationship Id="rId27" Type="http://schemas.openxmlformats.org/officeDocument/2006/relationships/font" Target="fonts/FiraCod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e7b51334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e7b51334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e7b3cc9d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e7b3cc9d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e7f9c668d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e7f9c668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409f46d68be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409f46d68be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h473c8eb52932c8a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h473c8eb52932c8a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Part (a), we implemented Dijkstra's algorithm using an adjacency matrix and an array-based priority queue. Finding the minimum-distance unvisited vertex requires scanning up to V vertices, repeated up to V times, giving O(V²). Similarly, relaxing edges requires scanning an entire row of the adjacency matrix for each selected vertex, giving another O(V²). Therefore, the overall time complexity is O(V²). We expect runtime to grow quadratically as V increases, while varying E with V fixed should have a smaller effect.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h473c8eb52932c8a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h473c8eb52932c8a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Part (a), we implemented Dijkstra's algorithm using an adjacency matrix and an array-based priority queue. Finding the minimum-distance unvisited vertex requires scanning up to V vertices, repeated up to V times, giving O(V²). Similarly, relaxing edges requires scanning an entire row of the adjacency matrix for each selected vertex, giving another O(V²). Therefore, the overall time complexity is O(V²). We expect runtime to grow quadratically as V increases, while varying E with V fixed should have a smaller effect.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h6f7460aa0243d33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h6f7460aa0243d3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h6f7460aa0243d33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h6f7460aa0243d33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h2f2ab90fe1bf0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h2f2ab90fe1bf0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h3289a3417d8708e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h3289a3417d8708e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Size for each insertion sort algorithm needs to be bigger than 1 ands smaller than n for the splits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Insertion sort + mergesort based on value on 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h43274300f16f4a90_8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h43274300f16f4a90_8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Size for each insertion sort algorithm needs to be bigger than 1 ands smaller than n for the splits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Insertion sort + mergesort based on value on 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h43274300f16f4a90_8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h43274300f16f4a90_8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Size for each insertion sort algorithm needs to be bigger than 1 ands smaller than n for the splits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Insertion sort + mergesort based on value on 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h561801f4dedf618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h561801f4dedf618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Size for each insertion sort algorithm needs to be bigger than 1 ands smaller than n for the splits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Insertion sort + mergesort based on value on 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h561801f4dedf618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h561801f4dedf618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Size for each insertion sort algorithm needs to be bigger than 1 ands smaller than n for the splits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Insertion sort + mergesort based on value on 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h561801f4dedf618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h561801f4dedf618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Size for each insertion sort algorithm needs to be bigger than 1 ands smaller than n for the splits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Insertion sort + mergesort based on value on 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h2f2ab90fe1bf0c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h2f2ab90fe1bf0c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h2f2ab90fe1bf0c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h2f2ab90fe1bf0c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h2f2ab90fe1bf0c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h2f2ab90fe1bf0c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h2f2ab90fe1bf0c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h2f2ab90fe1bf0c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h2f2ab90fe1bf0c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h2f2ab90fe1bf0c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 txBox="1"/>
          <p:nvPr>
            <p:ph hasCustomPrompt="1"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/>
          <p:nvPr>
            <p:ph idx="2" type="title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" type="body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 txBox="1"/>
          <p:nvPr>
            <p:ph idx="1" type="subTitle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" name="Google Shape;71;p5"/>
          <p:cNvSpPr txBox="1"/>
          <p:nvPr>
            <p:ph idx="2" type="subTitle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2" name="Google Shape;72;p5"/>
          <p:cNvSpPr txBox="1"/>
          <p:nvPr>
            <p:ph idx="3" type="subTitle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/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" name="Google Shape;105;p6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 txBox="1"/>
          <p:nvPr>
            <p:ph idx="1" type="subTitle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 txBox="1"/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9" name="Google Shape;129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7" name="Google Shape;147;p9"/>
          <p:cNvSpPr txBox="1"/>
          <p:nvPr>
            <p:ph idx="1" type="subTitle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8" name="Google Shape;148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 txBox="1"/>
          <p:nvPr>
            <p:ph hasCustomPrompt="1" type="title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 txBox="1"/>
          <p:nvPr>
            <p:ph hasCustomPrompt="1"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/>
          <p:nvPr>
            <p:ph idx="1" type="subTitle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2" type="subTitle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hasCustomPrompt="1" idx="3" type="title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/>
          <p:nvPr>
            <p:ph idx="4" type="subTitle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5" type="subTitle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hasCustomPrompt="1" idx="6" type="title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/>
          <p:nvPr>
            <p:ph idx="7" type="subTitle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8" type="subTitle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/>
          <p:nvPr>
            <p:ph idx="9"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 txBox="1"/>
          <p:nvPr>
            <p:ph type="title"/>
          </p:nvPr>
        </p:nvSpPr>
        <p:spPr>
          <a:xfrm>
            <a:off x="1752950" y="3005100"/>
            <a:ext cx="6109200" cy="37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5" name="Google Shape;215;p14"/>
          <p:cNvSpPr txBox="1"/>
          <p:nvPr>
            <p:ph idx="1" type="subTitle"/>
          </p:nvPr>
        </p:nvSpPr>
        <p:spPr>
          <a:xfrm>
            <a:off x="1752950" y="1764900"/>
            <a:ext cx="6109200" cy="12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accent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6" name="Google Shape;216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 txBox="1"/>
          <p:nvPr>
            <p:ph idx="1" type="subTitle"/>
          </p:nvPr>
        </p:nvSpPr>
        <p:spPr>
          <a:xfrm>
            <a:off x="3443750" y="3621269"/>
            <a:ext cx="5010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2" type="subTitle"/>
          </p:nvPr>
        </p:nvSpPr>
        <p:spPr>
          <a:xfrm>
            <a:off x="3051250" y="2638350"/>
            <a:ext cx="5010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3" type="subTitle"/>
          </p:nvPr>
        </p:nvSpPr>
        <p:spPr>
          <a:xfrm>
            <a:off x="3051250" y="2330425"/>
            <a:ext cx="50103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4" type="subTitle"/>
          </p:nvPr>
        </p:nvSpPr>
        <p:spPr>
          <a:xfrm>
            <a:off x="2624725" y="1655450"/>
            <a:ext cx="5010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5" type="subTitle"/>
          </p:nvPr>
        </p:nvSpPr>
        <p:spPr>
          <a:xfrm>
            <a:off x="2624725" y="1347525"/>
            <a:ext cx="50103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6" type="subTitle"/>
          </p:nvPr>
        </p:nvSpPr>
        <p:spPr>
          <a:xfrm>
            <a:off x="3443750" y="3313350"/>
            <a:ext cx="50103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4" name="Google Shape;244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5" name="Google Shape;245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6" name="Google Shape;246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3" name="Google Shape;253;p15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 txBox="1"/>
          <p:nvPr>
            <p:ph idx="1" type="subTitle"/>
          </p:nvPr>
        </p:nvSpPr>
        <p:spPr>
          <a:xfrm>
            <a:off x="5596231" y="1767554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8" name="Google Shape;258;p16"/>
          <p:cNvSpPr txBox="1"/>
          <p:nvPr>
            <p:ph idx="2" type="subTitle"/>
          </p:nvPr>
        </p:nvSpPr>
        <p:spPr>
          <a:xfrm>
            <a:off x="2494725" y="1767558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9" name="Google Shape;259;p16"/>
          <p:cNvSpPr txBox="1"/>
          <p:nvPr>
            <p:ph idx="3" type="subTitle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" name="Google Shape;260;p16"/>
          <p:cNvSpPr txBox="1"/>
          <p:nvPr>
            <p:ph idx="4" type="subTitle"/>
          </p:nvPr>
        </p:nvSpPr>
        <p:spPr>
          <a:xfrm>
            <a:off x="5596225" y="1389663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1" name="Google Shape;261;p16"/>
          <p:cNvSpPr txBox="1"/>
          <p:nvPr>
            <p:ph idx="5" type="subTitle"/>
          </p:nvPr>
        </p:nvSpPr>
        <p:spPr>
          <a:xfrm>
            <a:off x="6030031" y="3371329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2" name="Google Shape;262;p16"/>
          <p:cNvSpPr txBox="1"/>
          <p:nvPr>
            <p:ph idx="6" type="subTitle"/>
          </p:nvPr>
        </p:nvSpPr>
        <p:spPr>
          <a:xfrm>
            <a:off x="2928525" y="3371333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16"/>
          <p:cNvSpPr txBox="1"/>
          <p:nvPr>
            <p:ph idx="7" type="subTitle"/>
          </p:nvPr>
        </p:nvSpPr>
        <p:spPr>
          <a:xfrm>
            <a:off x="2928525" y="2993438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16"/>
          <p:cNvSpPr txBox="1"/>
          <p:nvPr>
            <p:ph idx="8" type="subTitle"/>
          </p:nvPr>
        </p:nvSpPr>
        <p:spPr>
          <a:xfrm>
            <a:off x="6030025" y="2993438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1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9" name="Google Shape;279;p16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/>
          <p:cNvSpPr txBox="1"/>
          <p:nvPr>
            <p:ph idx="1" type="subTitle"/>
          </p:nvPr>
        </p:nvSpPr>
        <p:spPr>
          <a:xfrm>
            <a:off x="1679425" y="1587644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2" type="subTitle"/>
          </p:nvPr>
        </p:nvSpPr>
        <p:spPr>
          <a:xfrm>
            <a:off x="1679425" y="1269900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3" type="subTitle"/>
          </p:nvPr>
        </p:nvSpPr>
        <p:spPr>
          <a:xfrm>
            <a:off x="2536285" y="3541351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6" name="Google Shape;286;p17"/>
          <p:cNvSpPr txBox="1"/>
          <p:nvPr>
            <p:ph idx="4" type="subTitle"/>
          </p:nvPr>
        </p:nvSpPr>
        <p:spPr>
          <a:xfrm>
            <a:off x="2536286" y="3221450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7" name="Google Shape;287;p17"/>
          <p:cNvSpPr txBox="1"/>
          <p:nvPr>
            <p:ph idx="5" type="subTitle"/>
          </p:nvPr>
        </p:nvSpPr>
        <p:spPr>
          <a:xfrm>
            <a:off x="4994100" y="1577676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8" name="Google Shape;288;p17"/>
          <p:cNvSpPr txBox="1"/>
          <p:nvPr>
            <p:ph idx="6" type="subTitle"/>
          </p:nvPr>
        </p:nvSpPr>
        <p:spPr>
          <a:xfrm>
            <a:off x="4994100" y="1257775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17"/>
          <p:cNvSpPr txBox="1"/>
          <p:nvPr>
            <p:ph idx="7" type="subTitle"/>
          </p:nvPr>
        </p:nvSpPr>
        <p:spPr>
          <a:xfrm>
            <a:off x="2099975" y="2564499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0" name="Google Shape;290;p17"/>
          <p:cNvSpPr txBox="1"/>
          <p:nvPr>
            <p:ph idx="8" type="subTitle"/>
          </p:nvPr>
        </p:nvSpPr>
        <p:spPr>
          <a:xfrm>
            <a:off x="2099975" y="2244588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17"/>
          <p:cNvSpPr txBox="1"/>
          <p:nvPr>
            <p:ph idx="9" type="subTitle"/>
          </p:nvPr>
        </p:nvSpPr>
        <p:spPr>
          <a:xfrm>
            <a:off x="5414650" y="2564499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2" name="Google Shape;292;p17"/>
          <p:cNvSpPr txBox="1"/>
          <p:nvPr>
            <p:ph idx="13" type="subTitle"/>
          </p:nvPr>
        </p:nvSpPr>
        <p:spPr>
          <a:xfrm>
            <a:off x="5414650" y="2244588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17"/>
          <p:cNvSpPr txBox="1"/>
          <p:nvPr>
            <p:ph idx="14" type="subTitle"/>
          </p:nvPr>
        </p:nvSpPr>
        <p:spPr>
          <a:xfrm>
            <a:off x="5846735" y="3551319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4" name="Google Shape;294;p17"/>
          <p:cNvSpPr txBox="1"/>
          <p:nvPr>
            <p:ph idx="15" type="subTitle"/>
          </p:nvPr>
        </p:nvSpPr>
        <p:spPr>
          <a:xfrm>
            <a:off x="5846736" y="3233575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1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6" name="Google Shape;306;p1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9" name="Google Shape;309;p17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7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"/>
          <p:cNvSpPr txBox="1"/>
          <p:nvPr>
            <p:ph hasCustomPrompt="1" type="title"/>
          </p:nvPr>
        </p:nvSpPr>
        <p:spPr>
          <a:xfrm>
            <a:off x="1134200" y="686250"/>
            <a:ext cx="5341200" cy="63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4" name="Google Shape;314;p18"/>
          <p:cNvSpPr txBox="1"/>
          <p:nvPr>
            <p:ph idx="1" type="subTitle"/>
          </p:nvPr>
        </p:nvSpPr>
        <p:spPr>
          <a:xfrm>
            <a:off x="1664475" y="1323750"/>
            <a:ext cx="4810800" cy="3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1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2" name="Google Shape;322;p1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7" name="Google Shape;327;p1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9" name="Google Shape;329;p18"/>
          <p:cNvSpPr txBox="1"/>
          <p:nvPr>
            <p:ph hasCustomPrompt="1" idx="2" type="title"/>
          </p:nvPr>
        </p:nvSpPr>
        <p:spPr>
          <a:xfrm>
            <a:off x="2100875" y="2016175"/>
            <a:ext cx="51060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0" name="Google Shape;330;p18"/>
          <p:cNvSpPr txBox="1"/>
          <p:nvPr>
            <p:ph idx="3" type="subTitle"/>
          </p:nvPr>
        </p:nvSpPr>
        <p:spPr>
          <a:xfrm>
            <a:off x="2100875" y="2506366"/>
            <a:ext cx="5106000" cy="3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18"/>
          <p:cNvSpPr txBox="1"/>
          <p:nvPr>
            <p:ph hasCustomPrompt="1" idx="4" type="title"/>
          </p:nvPr>
        </p:nvSpPr>
        <p:spPr>
          <a:xfrm>
            <a:off x="2100875" y="3013959"/>
            <a:ext cx="51060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2" name="Google Shape;332;p18"/>
          <p:cNvSpPr txBox="1"/>
          <p:nvPr>
            <p:ph idx="5" type="subTitle"/>
          </p:nvPr>
        </p:nvSpPr>
        <p:spPr>
          <a:xfrm>
            <a:off x="2100875" y="3504150"/>
            <a:ext cx="5106000" cy="3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19"/>
          <p:cNvSpPr txBox="1"/>
          <p:nvPr>
            <p:ph hasCustomPrompt="1"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354" name="Google Shape;354;p19"/>
          <p:cNvSpPr txBox="1"/>
          <p:nvPr>
            <p:ph hasCustomPrompt="1"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 txBox="1"/>
          <p:nvPr>
            <p:ph idx="1" type="subTitle"/>
          </p:nvPr>
        </p:nvSpPr>
        <p:spPr>
          <a:xfrm>
            <a:off x="1667256" y="2355825"/>
            <a:ext cx="2891100" cy="15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20"/>
          <p:cNvSpPr txBox="1"/>
          <p:nvPr>
            <p:ph type="title"/>
          </p:nvPr>
        </p:nvSpPr>
        <p:spPr>
          <a:xfrm>
            <a:off x="1121875" y="1183920"/>
            <a:ext cx="28911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1" name="Google Shape;361;p20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2" name="Google Shape;392;p21"/>
          <p:cNvSpPr txBox="1"/>
          <p:nvPr>
            <p:ph idx="1" type="body"/>
          </p:nvPr>
        </p:nvSpPr>
        <p:spPr>
          <a:xfrm>
            <a:off x="2090500" y="1956600"/>
            <a:ext cx="5111400" cy="21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∗"/>
              <a:defRPr sz="2000">
                <a:solidFill>
                  <a:schemeClr val="accent3"/>
                </a:solidFill>
              </a:defRPr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 sz="1200">
                <a:solidFill>
                  <a:schemeClr val="accent3"/>
                </a:solidFill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3" name="Google Shape;393;p21"/>
          <p:cNvSpPr txBox="1"/>
          <p:nvPr>
            <p:ph idx="2" type="subTitle"/>
          </p:nvPr>
        </p:nvSpPr>
        <p:spPr>
          <a:xfrm>
            <a:off x="1676975" y="1309850"/>
            <a:ext cx="54507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4" name="Google Shape;394;p21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2"/>
          <p:cNvSpPr txBox="1"/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9" name="Google Shape;399;p22"/>
          <p:cNvSpPr txBox="1"/>
          <p:nvPr>
            <p:ph idx="1" type="subTitle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0" name="Google Shape;400;p22"/>
          <p:cNvSpPr txBox="1"/>
          <p:nvPr>
            <p:ph idx="2" type="subTitle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1" name="Google Shape;401;p2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2912425" y="3087263"/>
            <a:ext cx="44181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CREDITS: This presentation template was created by </a:t>
            </a:r>
            <a:r>
              <a:rPr b="1" lang="en" sz="1200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including icons by </a:t>
            </a:r>
            <a:r>
              <a:rPr b="1" lang="en" sz="1200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and infographics &amp; images by </a:t>
            </a:r>
            <a:r>
              <a:rPr b="1" lang="en" sz="1200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 u="sng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9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 1">
  <p:cSld name="CUSTOM_9_2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8_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2" name="Google Shape;452;p25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53" name="Google Shape;453;p25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454" name="Google Shape;454;p25"/>
          <p:cNvSpPr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5" name="Google Shape;455;p25"/>
          <p:cNvSpPr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8" name="Google Shape;458;p25"/>
          <p:cNvSpPr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9" name="Google Shape;459;p25"/>
          <p:cNvSpPr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1" name="Google Shape;461;p25"/>
          <p:cNvSpPr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2" name="Google Shape;462;p25"/>
          <p:cNvSpPr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3" name="Google Shape;463;p25"/>
          <p:cNvSpPr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8" name="Google Shape;468;p25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9" name="Google Shape;469;p25"/>
          <p:cNvSpPr txBox="1"/>
          <p:nvPr>
            <p:ph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70" name="Google Shape;470;p25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471" name="Google Shape;471;p25"/>
          <p:cNvSpPr txBox="1"/>
          <p:nvPr>
            <p:ph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72" name="Google Shape;472;p25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8_2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5" name="Google Shape;475;p26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76" name="Google Shape;476;p26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477" name="Google Shape;477;p26"/>
          <p:cNvSpPr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91" name="Google Shape;491;p26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2" name="Google Shape;492;p26"/>
          <p:cNvSpPr txBox="1"/>
          <p:nvPr>
            <p:ph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93" name="Google Shape;493;p26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494" name="Google Shape;494;p26"/>
          <p:cNvSpPr txBox="1"/>
          <p:nvPr>
            <p:ph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95" name="Google Shape;495;p26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8_3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8" name="Google Shape;498;p27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99" name="Google Shape;499;p27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500" name="Google Shape;500;p27"/>
          <p:cNvSpPr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1" name="Google Shape;501;p27"/>
          <p:cNvSpPr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6" name="Google Shape;506;p27"/>
          <p:cNvSpPr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12" name="Google Shape;512;p27"/>
          <p:cNvSpPr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14" name="Google Shape;514;p27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5" name="Google Shape;515;p27"/>
          <p:cNvSpPr txBox="1"/>
          <p:nvPr>
            <p:ph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6" name="Google Shape;516;p27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517" name="Google Shape;517;p27"/>
          <p:cNvSpPr txBox="1"/>
          <p:nvPr>
            <p:ph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8" name="Google Shape;518;p27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8_4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1" name="Google Shape;521;p28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2" name="Google Shape;522;p28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523" name="Google Shape;523;p28"/>
          <p:cNvSpPr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6" name="Google Shape;526;p28"/>
          <p:cNvSpPr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2" name="Google Shape;532;p28"/>
          <p:cNvSpPr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37" name="Google Shape;537;p28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8" name="Google Shape;538;p28"/>
          <p:cNvSpPr txBox="1"/>
          <p:nvPr>
            <p:ph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9" name="Google Shape;539;p28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540" name="Google Shape;540;p28"/>
          <p:cNvSpPr txBox="1"/>
          <p:nvPr>
            <p:ph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41" name="Google Shape;541;p28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8_5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44" name="Google Shape;544;p2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45" name="Google Shape;545;p29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546" name="Google Shape;546;p29"/>
          <p:cNvSpPr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7" name="Google Shape;547;p29"/>
          <p:cNvSpPr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8" name="Google Shape;548;p29"/>
          <p:cNvSpPr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9" name="Google Shape;549;p29"/>
          <p:cNvSpPr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0" name="Google Shape;550;p29"/>
          <p:cNvSpPr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1" name="Google Shape;551;p29"/>
          <p:cNvSpPr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2" name="Google Shape;552;p29"/>
          <p:cNvSpPr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3" name="Google Shape;553;p29"/>
          <p:cNvSpPr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4" name="Google Shape;554;p29"/>
          <p:cNvSpPr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5" name="Google Shape;555;p29"/>
          <p:cNvSpPr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6" name="Google Shape;556;p29"/>
          <p:cNvSpPr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7" name="Google Shape;557;p29"/>
          <p:cNvSpPr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8" name="Google Shape;558;p29"/>
          <p:cNvSpPr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9" name="Google Shape;559;p29"/>
          <p:cNvSpPr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800"/>
              <a:buFont typeface="Fira Code"/>
              <a:buNone/>
            </a:pPr>
            <a:r>
              <a:rPr lang="en" sz="1800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sz="180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0" name="Google Shape;560;p29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1" name="Google Shape;561;p29"/>
          <p:cNvSpPr txBox="1"/>
          <p:nvPr>
            <p:ph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62" name="Google Shape;562;p29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563" name="Google Shape;563;p29"/>
          <p:cNvSpPr txBox="1"/>
          <p:nvPr>
            <p:ph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64" name="Google Shape;564;p29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0"/>
          <p:cNvSpPr txBox="1"/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SC2001 </a:t>
            </a:r>
            <a:r>
              <a:rPr lang="en">
                <a:solidFill>
                  <a:schemeClr val="accent2"/>
                </a:solidFill>
              </a:rPr>
              <a:t>‘Project 2’ </a:t>
            </a:r>
            <a:r>
              <a:rPr lang="en">
                <a:solidFill>
                  <a:schemeClr val="accent3"/>
                </a:solidFill>
              </a:rPr>
              <a:t>{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70" name="Google Shape;570;p30"/>
          <p:cNvSpPr txBox="1"/>
          <p:nvPr>
            <p:ph idx="1" type="subTitle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Group Members: Chelyn (U2523007F), </a:t>
            </a:r>
            <a:br>
              <a:rPr lang="en"/>
            </a:br>
            <a:r>
              <a:rPr lang="en"/>
              <a:t>	Ryan (U2522244E), Kyaw Lin (U2520058L) &gt;</a:t>
            </a:r>
            <a:endParaRPr/>
          </a:p>
        </p:txBody>
      </p:sp>
      <p:sp>
        <p:nvSpPr>
          <p:cNvPr id="571" name="Google Shape;571;p30"/>
          <p:cNvSpPr txBox="1"/>
          <p:nvPr>
            <p:ph idx="1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72" name="Google Shape;572;p30"/>
          <p:cNvSpPr txBox="1"/>
          <p:nvPr>
            <p:ph idx="2" type="subTitle"/>
          </p:nvPr>
        </p:nvSpPr>
        <p:spPr>
          <a:xfrm>
            <a:off x="1833925" y="1915475"/>
            <a:ext cx="68820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[</a:t>
            </a:r>
            <a:r>
              <a:rPr lang="en">
                <a:solidFill>
                  <a:schemeClr val="accent1"/>
                </a:solidFill>
              </a:rPr>
              <a:t>The Dijkstra’s Algorithm</a:t>
            </a:r>
            <a:r>
              <a:rPr lang="en">
                <a:solidFill>
                  <a:schemeClr val="accent6"/>
                </a:solidFill>
              </a:rPr>
              <a:t>] </a:t>
            </a:r>
            <a:endParaRPr>
              <a:solidFill>
                <a:schemeClr val="accent6"/>
              </a:solidFill>
            </a:endParaRPr>
          </a:p>
        </p:txBody>
      </p:sp>
      <p:grpSp>
        <p:nvGrpSpPr>
          <p:cNvPr id="573" name="Google Shape;573;p30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574" name="Google Shape;574;p30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5" name="Google Shape;575;p30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576" name="Google Shape;576;p30"/>
          <p:cNvSpPr txBox="1"/>
          <p:nvPr>
            <p:ph idx="1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title</a:t>
            </a:r>
            <a:r>
              <a:rPr lang="en" sz="1400">
                <a:solidFill>
                  <a:schemeClr val="accent3"/>
                </a:solidFill>
              </a:rPr>
              <a:t>.</a:t>
            </a:r>
            <a:r>
              <a:rPr lang="en" sz="1400"/>
              <a:t>py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77" name="Google Shape;577;p30"/>
          <p:cNvSpPr txBox="1"/>
          <p:nvPr>
            <p:ph idx="1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1"/>
          <p:cNvSpPr txBox="1"/>
          <p:nvPr>
            <p:ph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83" name="Google Shape;583;p31"/>
          <p:cNvSpPr txBox="1"/>
          <p:nvPr>
            <p:ph idx="1" type="subTitle"/>
          </p:nvPr>
        </p:nvSpPr>
        <p:spPr>
          <a:xfrm>
            <a:off x="2332550" y="1775125"/>
            <a:ext cx="50094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Using array for priority queue and time complexity analysis</a:t>
            </a:r>
            <a:r>
              <a:rPr lang="en"/>
              <a:t> &gt;</a:t>
            </a:r>
            <a:endParaRPr/>
          </a:p>
        </p:txBody>
      </p:sp>
      <p:sp>
        <p:nvSpPr>
          <p:cNvPr id="584" name="Google Shape;584;p31"/>
          <p:cNvSpPr txBox="1"/>
          <p:nvPr>
            <p:ph idx="2" type="subTitle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</a:t>
            </a:r>
            <a:r>
              <a:rPr lang="en"/>
              <a:t> Matrix</a:t>
            </a:r>
            <a:endParaRPr/>
          </a:p>
        </p:txBody>
      </p:sp>
      <p:sp>
        <p:nvSpPr>
          <p:cNvPr id="585" name="Google Shape;585;p31"/>
          <p:cNvSpPr txBox="1"/>
          <p:nvPr>
            <p:ph idx="3" type="title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en"/>
              <a:t>2</a:t>
            </a:r>
            <a:endParaRPr/>
          </a:p>
        </p:txBody>
      </p:sp>
      <p:sp>
        <p:nvSpPr>
          <p:cNvPr id="586" name="Google Shape;586;p31"/>
          <p:cNvSpPr txBox="1"/>
          <p:nvPr>
            <p:ph idx="5" type="subTitle"/>
          </p:nvPr>
        </p:nvSpPr>
        <p:spPr>
          <a:xfrm>
            <a:off x="3722225" y="2419850"/>
            <a:ext cx="3936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List</a:t>
            </a:r>
            <a:endParaRPr/>
          </a:p>
        </p:txBody>
      </p:sp>
      <p:sp>
        <p:nvSpPr>
          <p:cNvPr id="587" name="Google Shape;587;p31"/>
          <p:cNvSpPr txBox="1"/>
          <p:nvPr>
            <p:ph idx="6" type="title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8" name="Google Shape;588;p31"/>
          <p:cNvSpPr txBox="1"/>
          <p:nvPr>
            <p:ph idx="7" type="subTitle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Comparing the 2 methods </a:t>
            </a:r>
            <a:r>
              <a:rPr lang="en"/>
              <a:t>&gt;</a:t>
            </a:r>
            <a:endParaRPr/>
          </a:p>
        </p:txBody>
      </p:sp>
      <p:sp>
        <p:nvSpPr>
          <p:cNvPr id="589" name="Google Shape;589;p31"/>
          <p:cNvSpPr txBox="1"/>
          <p:nvPr>
            <p:ph idx="8" type="subTitle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</p:txBody>
      </p:sp>
      <p:sp>
        <p:nvSpPr>
          <p:cNvPr id="590" name="Google Shape;590;p31"/>
          <p:cNvSpPr txBox="1"/>
          <p:nvPr>
            <p:ph idx="9"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able Of </a:t>
            </a:r>
            <a:r>
              <a:rPr lang="en">
                <a:solidFill>
                  <a:schemeClr val="accent2"/>
                </a:solidFill>
              </a:rPr>
              <a:t>‘Contents’</a:t>
            </a:r>
            <a:r>
              <a:rPr lang="en"/>
              <a:t>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grpSp>
        <p:nvGrpSpPr>
          <p:cNvPr id="591" name="Google Shape;591;p31"/>
          <p:cNvGrpSpPr/>
          <p:nvPr/>
        </p:nvGrpSpPr>
        <p:grpSpPr>
          <a:xfrm>
            <a:off x="1084825" y="1168950"/>
            <a:ext cx="506100" cy="3401075"/>
            <a:chOff x="1084825" y="1168950"/>
            <a:chExt cx="506100" cy="3401075"/>
          </a:xfrm>
        </p:grpSpPr>
        <p:sp>
          <p:nvSpPr>
            <p:cNvPr id="592" name="Google Shape;592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93" name="Google Shape;593;p31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4" name="Google Shape;594;p31"/>
          <p:cNvSpPr txBox="1"/>
          <p:nvPr>
            <p:ph idx="1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95" name="Google Shape;595;p31"/>
          <p:cNvSpPr txBox="1"/>
          <p:nvPr>
            <p:ph idx="1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title</a:t>
            </a:r>
            <a:r>
              <a:rPr lang="en" sz="1400">
                <a:solidFill>
                  <a:schemeClr val="accent3"/>
                </a:solidFill>
              </a:rPr>
              <a:t>.</a:t>
            </a:r>
            <a:r>
              <a:rPr lang="en" sz="1400"/>
              <a:t>py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96" name="Google Shape;596;p31"/>
          <p:cNvSpPr txBox="1"/>
          <p:nvPr>
            <p:ph idx="1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97" name="Google Shape;597;p31"/>
          <p:cNvSpPr txBox="1"/>
          <p:nvPr>
            <p:ph idx="1" type="subTitle"/>
          </p:nvPr>
        </p:nvSpPr>
        <p:spPr>
          <a:xfrm>
            <a:off x="3722225" y="2756850"/>
            <a:ext cx="50094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Using minimizing heap for priority queue and time complexity analysis &gt;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2"/>
          <p:cNvSpPr txBox="1"/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01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603" name="Google Shape;603;p32"/>
          <p:cNvSpPr txBox="1"/>
          <p:nvPr>
            <p:ph idx="2" type="title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[</a:t>
            </a:r>
            <a:r>
              <a:rPr lang="en">
                <a:solidFill>
                  <a:schemeClr val="accent1"/>
                </a:solidFill>
              </a:rPr>
              <a:t>Adjacency Matrix</a:t>
            </a:r>
            <a:r>
              <a:rPr lang="en">
                <a:solidFill>
                  <a:schemeClr val="accent6"/>
                </a:solidFill>
              </a:rPr>
              <a:t>]</a:t>
            </a:r>
            <a:r>
              <a:rPr lang="en">
                <a:solidFill>
                  <a:schemeClr val="accent1"/>
                </a:solidFill>
              </a:rPr>
              <a:t> 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04" name="Google Shape;604;p32"/>
          <p:cNvSpPr txBox="1"/>
          <p:nvPr>
            <p:ph idx="1" type="subTitle"/>
          </p:nvPr>
        </p:nvSpPr>
        <p:spPr>
          <a:xfrm>
            <a:off x="3038380" y="2448125"/>
            <a:ext cx="53772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Using array for priority queue and time complexity analysis &gt;</a:t>
            </a:r>
            <a:endParaRPr/>
          </a:p>
        </p:txBody>
      </p:sp>
      <p:sp>
        <p:nvSpPr>
          <p:cNvPr id="605" name="Google Shape;605;p32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606" name="Google Shape;606;p32"/>
          <p:cNvCxnSpPr>
            <a:endCxn id="605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32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08" name="Google Shape;608;p32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</a:rPr>
              <a:t>title.py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609" name="Google Shape;609;p32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3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dijkstra</a:t>
            </a:r>
            <a:r>
              <a:rPr lang="en">
                <a:solidFill>
                  <a:schemeClr val="accent1"/>
                </a:solidFill>
              </a:rPr>
              <a:t>()</a:t>
            </a:r>
            <a:r>
              <a:rPr lang="en"/>
              <a:t>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15" name="Google Shape;615;p33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16" name="Google Shape;616;p33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functions.py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617" name="Google Shape;617;p33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8" name="Google Shape;618;p33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619" name="Google Shape;61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000" y="1123900"/>
            <a:ext cx="3645824" cy="301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2426" y="1123900"/>
            <a:ext cx="3783326" cy="13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4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Theoretical Time Analysis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26" name="Google Shape;626;p34"/>
          <p:cNvSpPr txBox="1"/>
          <p:nvPr>
            <p:ph idx="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627" name="Google Shape;627;p34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628" name="Google Shape;628;p34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629" name="Google Shape;629;p34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0" name="Google Shape;630;p34"/>
          <p:cNvSpPr txBox="1"/>
          <p:nvPr>
            <p:ph idx="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31" name="Google Shape;631;p34"/>
          <p:cNvSpPr txBox="1"/>
          <p:nvPr>
            <p:ph idx="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graphicFrame>
        <p:nvGraphicFramePr>
          <p:cNvPr id="632" name="Google Shape;632;p34"/>
          <p:cNvGraphicFramePr/>
          <p:nvPr/>
        </p:nvGraphicFramePr>
        <p:xfrm>
          <a:off x="2106175" y="1366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{E4D09AA9-CBC0-4558-9459-706624ADDD8B}</a:tableStyleId>
              </a:tblPr>
              <a:tblGrid>
                <a:gridCol w="2045400"/>
                <a:gridCol w="2045400"/>
                <a:gridCol w="2045400"/>
              </a:tblGrid>
              <a:tr h="44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Operation</a:t>
                      </a:r>
                      <a:endParaRPr b="1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Frequency </a:t>
                      </a:r>
                      <a:endParaRPr b="1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Time Complexity</a:t>
                      </a:r>
                      <a:endParaRPr b="1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</a:tr>
              <a:tr h="57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Initialise distance and visited arrays</a:t>
                      </a:r>
                      <a:endParaRPr sz="10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Once </a:t>
                      </a:r>
                      <a:endParaRPr sz="11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O(V)</a:t>
                      </a:r>
                      <a:endParaRPr sz="12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</a:tr>
              <a:tr h="76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Find minimum-distance unvisited vertex </a:t>
                      </a:r>
                      <a:endParaRPr sz="11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Up to </a:t>
                      </a:r>
                      <a:r>
                        <a:rPr b="1"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V </a:t>
                      </a: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iterations, scanning </a:t>
                      </a:r>
                      <a:r>
                        <a:rPr b="1"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V </a:t>
                      </a: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vertices each </a:t>
                      </a:r>
                      <a:endParaRPr sz="11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O(V</a:t>
                      </a:r>
                      <a:r>
                        <a:rPr baseline="30000" lang="en" sz="12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</a:t>
                      </a:r>
                      <a:r>
                        <a:rPr lang="en" sz="12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)</a:t>
                      </a:r>
                      <a:endParaRPr sz="12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</a:tr>
              <a:tr h="76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Check adjacent vertices and relax edges </a:t>
                      </a:r>
                      <a:endParaRPr sz="11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Up to </a:t>
                      </a:r>
                      <a:r>
                        <a:rPr b="1"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V </a:t>
                      </a: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iterations, scanning </a:t>
                      </a:r>
                      <a:r>
                        <a:rPr b="1"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V </a:t>
                      </a: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matrix entries each </a:t>
                      </a:r>
                      <a:endParaRPr sz="11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O(V</a:t>
                      </a:r>
                      <a:r>
                        <a:rPr baseline="30000" lang="en" sz="12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</a:t>
                      </a:r>
                      <a:r>
                        <a:rPr lang="en" sz="12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)</a:t>
                      </a:r>
                      <a:endParaRPr sz="12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5"/>
          <p:cNvSpPr txBox="1"/>
          <p:nvPr>
            <p:ph idx="1" type="body"/>
          </p:nvPr>
        </p:nvSpPr>
        <p:spPr>
          <a:xfrm>
            <a:off x="3450800" y="2572175"/>
            <a:ext cx="2047200" cy="7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>
                <a:solidFill>
                  <a:schemeClr val="accent3"/>
                </a:solidFill>
              </a:rPr>
              <a:t>= </a:t>
            </a:r>
            <a:r>
              <a:rPr lang="en" sz="3000">
                <a:solidFill>
                  <a:schemeClr val="accent3"/>
                </a:solidFill>
              </a:rPr>
              <a:t>O(V</a:t>
            </a:r>
            <a:r>
              <a:rPr baseline="30000" lang="en" sz="3000">
                <a:solidFill>
                  <a:schemeClr val="accent3"/>
                </a:solidFill>
              </a:rPr>
              <a:t>2</a:t>
            </a:r>
            <a:r>
              <a:rPr lang="en" sz="3000">
                <a:solidFill>
                  <a:schemeClr val="accent3"/>
                </a:solidFill>
              </a:rPr>
              <a:t>) </a:t>
            </a:r>
            <a:endParaRPr sz="3000">
              <a:solidFill>
                <a:schemeClr val="accent3"/>
              </a:solidFill>
            </a:endParaRPr>
          </a:p>
        </p:txBody>
      </p:sp>
      <p:sp>
        <p:nvSpPr>
          <p:cNvPr id="638" name="Google Shape;638;p35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Theoretical Time Analysis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39" name="Google Shape;639;p35"/>
          <p:cNvSpPr txBox="1"/>
          <p:nvPr>
            <p:ph idx="2" type="title"/>
          </p:nvPr>
        </p:nvSpPr>
        <p:spPr>
          <a:xfrm flipH="1">
            <a:off x="1630250" y="1257775"/>
            <a:ext cx="5241600" cy="4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Overall Time Complexity&gt;</a:t>
            </a:r>
            <a:endParaRPr/>
          </a:p>
        </p:txBody>
      </p:sp>
      <p:sp>
        <p:nvSpPr>
          <p:cNvPr id="640" name="Google Shape;640;p35"/>
          <p:cNvSpPr txBox="1"/>
          <p:nvPr>
            <p:ph idx="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grpSp>
        <p:nvGrpSpPr>
          <p:cNvPr id="641" name="Google Shape;641;p35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642" name="Google Shape;642;p35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643" name="Google Shape;643;p35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4" name="Google Shape;644;p35"/>
          <p:cNvSpPr txBox="1"/>
          <p:nvPr>
            <p:ph idx="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5" name="Google Shape;645;p35"/>
          <p:cNvSpPr txBox="1"/>
          <p:nvPr>
            <p:ph idx="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6" name="Google Shape;646;p35"/>
          <p:cNvSpPr txBox="1"/>
          <p:nvPr>
            <p:ph idx="1" type="body"/>
          </p:nvPr>
        </p:nvSpPr>
        <p:spPr>
          <a:xfrm>
            <a:off x="1750125" y="1770225"/>
            <a:ext cx="6324000" cy="7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3"/>
                </a:solidFill>
              </a:rPr>
              <a:t>T(V,E) =</a:t>
            </a:r>
            <a:r>
              <a:rPr lang="en" sz="1800">
                <a:solidFill>
                  <a:schemeClr val="accent3"/>
                </a:solidFill>
              </a:rPr>
              <a:t> O(V) + O(V</a:t>
            </a:r>
            <a:r>
              <a:rPr baseline="30000" lang="en" sz="1800">
                <a:solidFill>
                  <a:schemeClr val="accent3"/>
                </a:solidFill>
              </a:rPr>
              <a:t>2</a:t>
            </a:r>
            <a:r>
              <a:rPr lang="en" sz="1800">
                <a:solidFill>
                  <a:schemeClr val="accent3"/>
                </a:solidFill>
              </a:rPr>
              <a:t>) + O(V</a:t>
            </a:r>
            <a:r>
              <a:rPr baseline="30000" lang="en" sz="1800">
                <a:solidFill>
                  <a:schemeClr val="accent3"/>
                </a:solidFill>
              </a:rPr>
              <a:t>2</a:t>
            </a:r>
            <a:r>
              <a:rPr lang="en" sz="1800">
                <a:solidFill>
                  <a:schemeClr val="accent3"/>
                </a:solidFill>
              </a:rPr>
              <a:t>)</a:t>
            </a:r>
            <a:endParaRPr sz="1800">
              <a:solidFill>
                <a:schemeClr val="accent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6"/>
          <p:cNvSpPr/>
          <p:nvPr/>
        </p:nvSpPr>
        <p:spPr>
          <a:xfrm>
            <a:off x="1761978" y="117426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title.py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2" name="Google Shape;652;p36"/>
          <p:cNvSpPr/>
          <p:nvPr/>
        </p:nvSpPr>
        <p:spPr>
          <a:xfrm>
            <a:off x="6143478" y="117426"/>
            <a:ext cx="2476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experiment.py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3" name="Google Shape;653;p36"/>
          <p:cNvSpPr/>
          <p:nvPr/>
        </p:nvSpPr>
        <p:spPr>
          <a:xfrm>
            <a:off x="1171428" y="717501"/>
            <a:ext cx="7429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5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Varying V (E = 2V)</a:t>
            </a:r>
            <a:r>
              <a:rPr lang="en" sz="2475">
                <a:solidFill>
                  <a:srgbClr val="FCC642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75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54" name="Google Shape;654;p36"/>
          <p:cNvSpPr/>
          <p:nvPr/>
        </p:nvSpPr>
        <p:spPr>
          <a:xfrm>
            <a:off x="1171428" y="4156026"/>
            <a:ext cx="47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graphicFrame>
        <p:nvGraphicFramePr>
          <p:cNvPr id="655" name="Google Shape;655;p36"/>
          <p:cNvGraphicFramePr/>
          <p:nvPr/>
        </p:nvGraphicFramePr>
        <p:xfrm>
          <a:off x="1428603" y="1450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{9BBB0A65-CD4B-4173-B407-39140296A06B}</a:tableStyleId>
              </a:tblPr>
              <a:tblGrid>
                <a:gridCol w="1362050"/>
                <a:gridCol w="21403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" sz="1275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V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" sz="1275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Time (s)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0.001430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0.004838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400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0.020834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800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0.054488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1,600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0.206589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</a:tbl>
          </a:graphicData>
        </a:graphic>
      </p:graphicFrame>
      <p:sp>
        <p:nvSpPr>
          <p:cNvPr id="656" name="Google Shape;656;p36"/>
          <p:cNvSpPr/>
          <p:nvPr/>
        </p:nvSpPr>
        <p:spPr>
          <a:xfrm>
            <a:off x="1460453" y="3838126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5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Larger V significantly increases the amount of time needed to execute</a:t>
            </a:r>
            <a:endParaRPr/>
          </a:p>
        </p:txBody>
      </p:sp>
      <p:sp>
        <p:nvSpPr>
          <p:cNvPr id="657" name="Google Shape;657;p36"/>
          <p:cNvSpPr txBox="1"/>
          <p:nvPr>
            <p:ph idx="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658" name="Google Shape;65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2775" y="1155800"/>
            <a:ext cx="3502349" cy="2626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7"/>
          <p:cNvSpPr/>
          <p:nvPr/>
        </p:nvSpPr>
        <p:spPr>
          <a:xfrm>
            <a:off x="1761978" y="117426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title.py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4" name="Google Shape;664;p37"/>
          <p:cNvSpPr/>
          <p:nvPr/>
        </p:nvSpPr>
        <p:spPr>
          <a:xfrm>
            <a:off x="6143478" y="117426"/>
            <a:ext cx="2476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experiment.py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5" name="Google Shape;665;p37"/>
          <p:cNvSpPr/>
          <p:nvPr/>
        </p:nvSpPr>
        <p:spPr>
          <a:xfrm>
            <a:off x="1171428" y="717501"/>
            <a:ext cx="7429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5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Fixed V = 500 (Varying E)</a:t>
            </a:r>
            <a:r>
              <a:rPr lang="en" sz="2475">
                <a:solidFill>
                  <a:srgbClr val="FCC642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2475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66" name="Google Shape;666;p37"/>
          <p:cNvSpPr/>
          <p:nvPr/>
        </p:nvSpPr>
        <p:spPr>
          <a:xfrm>
            <a:off x="1171428" y="4156026"/>
            <a:ext cx="47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graphicFrame>
        <p:nvGraphicFramePr>
          <p:cNvPr id="667" name="Google Shape;667;p37"/>
          <p:cNvGraphicFramePr/>
          <p:nvPr/>
        </p:nvGraphicFramePr>
        <p:xfrm>
          <a:off x="1428603" y="1450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{9BBB0A65-CD4B-4173-B407-39140296A06B}</a:tableStyleId>
              </a:tblPr>
              <a:tblGrid>
                <a:gridCol w="1362050"/>
                <a:gridCol w="21403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" sz="1275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E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" sz="1275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Time (s)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</a:t>
                      </a: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032285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2,000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</a:t>
                      </a: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031136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10,000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</a:t>
                      </a: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034620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50,000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</a:t>
                      </a: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035089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</a:tbl>
          </a:graphicData>
        </a:graphic>
      </p:graphicFrame>
      <p:sp>
        <p:nvSpPr>
          <p:cNvPr id="668" name="Google Shape;668;p37"/>
          <p:cNvSpPr/>
          <p:nvPr/>
        </p:nvSpPr>
        <p:spPr>
          <a:xfrm>
            <a:off x="1460453" y="3838126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5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All timings are close - density of graph does not really affect time for execution</a:t>
            </a:r>
            <a:endParaRPr/>
          </a:p>
        </p:txBody>
      </p:sp>
      <p:sp>
        <p:nvSpPr>
          <p:cNvPr id="669" name="Google Shape;669;p37"/>
          <p:cNvSpPr txBox="1"/>
          <p:nvPr>
            <p:ph idx="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670" name="Google Shape;67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475" y="1308200"/>
            <a:ext cx="3315782" cy="2486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8"/>
          <p:cNvSpPr txBox="1"/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02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676" name="Google Shape;676;p38"/>
          <p:cNvSpPr txBox="1"/>
          <p:nvPr>
            <p:ph idx="2" type="title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[</a:t>
            </a:r>
            <a:r>
              <a:rPr lang="en">
                <a:solidFill>
                  <a:schemeClr val="lt2"/>
                </a:solidFill>
              </a:rPr>
              <a:t>Adjacency List</a:t>
            </a:r>
            <a:r>
              <a:rPr lang="en">
                <a:solidFill>
                  <a:schemeClr val="accent6"/>
                </a:solidFill>
              </a:rPr>
              <a:t>]</a:t>
            </a:r>
            <a:r>
              <a:rPr lang="en">
                <a:solidFill>
                  <a:schemeClr val="accent1"/>
                </a:solidFill>
              </a:rPr>
              <a:t> 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77" name="Google Shape;677;p38"/>
          <p:cNvSpPr txBox="1"/>
          <p:nvPr>
            <p:ph idx="1" type="subTitle"/>
          </p:nvPr>
        </p:nvSpPr>
        <p:spPr>
          <a:xfrm>
            <a:off x="2601890" y="2448125"/>
            <a:ext cx="53772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5"/>
              <a:t>&lt; Dijkstra with a minimizing heap &gt;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8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679" name="Google Shape;679;p38"/>
          <p:cNvCxnSpPr>
            <a:endCxn id="678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38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81" name="Google Shape;681;p38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</a:rPr>
              <a:t>title.py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682" name="Google Shape;682;p38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83" name="Google Shape;683;p38"/>
          <p:cNvSpPr txBox="1"/>
          <p:nvPr/>
        </p:nvSpPr>
        <p:spPr>
          <a:xfrm>
            <a:off x="2642528" y="2972850"/>
            <a:ext cx="57687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5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rPr>
              <a:t>Implementation and time complexity analysis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89" name="Google Shape;689;p39"/>
          <p:cNvSpPr txBox="1"/>
          <p:nvPr>
            <p:ph idx="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90" name="Google Shape;690;p39"/>
          <p:cNvSpPr txBox="1"/>
          <p:nvPr>
            <p:ph idx="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691" name="Google Shape;69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272" y="601225"/>
            <a:ext cx="7743254" cy="394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"/>
          <p:cNvSpPr txBox="1"/>
          <p:nvPr>
            <p:ph idx="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97" name="Google Shape;697;p40"/>
          <p:cNvSpPr txBox="1"/>
          <p:nvPr>
            <p:ph idx="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98" name="Google Shape;698;p40"/>
          <p:cNvSpPr txBox="1"/>
          <p:nvPr>
            <p:ph idx="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699" name="Google Shape;69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246" y="601225"/>
            <a:ext cx="7667460" cy="394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1"/>
          <p:cNvSpPr txBox="1"/>
          <p:nvPr>
            <p:ph idx="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05" name="Google Shape;705;p41"/>
          <p:cNvSpPr txBox="1"/>
          <p:nvPr>
            <p:ph idx="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06" name="Google Shape;706;p41"/>
          <p:cNvSpPr txBox="1"/>
          <p:nvPr>
            <p:ph idx="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707" name="Google Shape;70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323" y="601225"/>
            <a:ext cx="7667460" cy="394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2"/>
          <p:cNvSpPr txBox="1"/>
          <p:nvPr>
            <p:ph idx="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13" name="Google Shape;713;p42"/>
          <p:cNvSpPr txBox="1"/>
          <p:nvPr>
            <p:ph idx="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14" name="Google Shape;714;p42"/>
          <p:cNvSpPr txBox="1"/>
          <p:nvPr>
            <p:ph idx="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715" name="Google Shape;715;p42"/>
          <p:cNvPicPr preferRelativeResize="0"/>
          <p:nvPr/>
        </p:nvPicPr>
        <p:blipFill rotWithShape="1">
          <a:blip r:embed="rId3">
            <a:alphaModFix/>
          </a:blip>
          <a:srcRect b="22451" l="0" r="0" t="0"/>
          <a:stretch/>
        </p:blipFill>
        <p:spPr>
          <a:xfrm>
            <a:off x="1038150" y="601225"/>
            <a:ext cx="7667451" cy="305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3"/>
          <p:cNvSpPr txBox="1"/>
          <p:nvPr>
            <p:ph idx="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21" name="Google Shape;721;p43"/>
          <p:cNvSpPr txBox="1"/>
          <p:nvPr>
            <p:ph idx="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22" name="Google Shape;722;p43"/>
          <p:cNvSpPr txBox="1"/>
          <p:nvPr>
            <p:ph idx="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723" name="Google Shape;72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349" y="601225"/>
            <a:ext cx="7667460" cy="394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4"/>
          <p:cNvSpPr txBox="1"/>
          <p:nvPr>
            <p:ph idx="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29" name="Google Shape;729;p44"/>
          <p:cNvSpPr txBox="1"/>
          <p:nvPr>
            <p:ph idx="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30" name="Google Shape;730;p44"/>
          <p:cNvSpPr txBox="1"/>
          <p:nvPr>
            <p:ph idx="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731" name="Google Shape;73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246" y="601225"/>
            <a:ext cx="7667460" cy="394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5"/>
          <p:cNvSpPr txBox="1"/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03 </a:t>
            </a:r>
            <a:r>
              <a:rPr lang="en" sz="5000">
                <a:solidFill>
                  <a:schemeClr val="accent6"/>
                </a:solidFill>
              </a:rPr>
              <a:t>{</a:t>
            </a:r>
            <a:endParaRPr sz="5000">
              <a:solidFill>
                <a:schemeClr val="accent6"/>
              </a:solidFill>
            </a:endParaRPr>
          </a:p>
        </p:txBody>
      </p:sp>
      <p:sp>
        <p:nvSpPr>
          <p:cNvPr id="737" name="Google Shape;737;p45"/>
          <p:cNvSpPr txBox="1"/>
          <p:nvPr>
            <p:ph idx="2" type="title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[</a:t>
            </a:r>
            <a:r>
              <a:rPr lang="en"/>
              <a:t>Comparison</a:t>
            </a:r>
            <a:r>
              <a:rPr lang="en">
                <a:solidFill>
                  <a:schemeClr val="accent6"/>
                </a:solidFill>
              </a:rPr>
              <a:t>]</a:t>
            </a:r>
            <a:r>
              <a:rPr lang="en">
                <a:solidFill>
                  <a:schemeClr val="accent1"/>
                </a:solidFill>
              </a:rPr>
              <a:t> 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38" name="Google Shape;738;p45"/>
          <p:cNvSpPr txBox="1"/>
          <p:nvPr>
            <p:ph idx="1" type="subTitle"/>
          </p:nvPr>
        </p:nvSpPr>
        <p:spPr>
          <a:xfrm>
            <a:off x="3038380" y="2448125"/>
            <a:ext cx="53772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Comparing the 2 methods &gt;</a:t>
            </a:r>
            <a:endParaRPr/>
          </a:p>
        </p:txBody>
      </p:sp>
      <p:sp>
        <p:nvSpPr>
          <p:cNvPr id="739" name="Google Shape;739;p45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740" name="Google Shape;740;p45"/>
          <p:cNvCxnSpPr>
            <a:endCxn id="739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1" name="Google Shape;741;p45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42" name="Google Shape;742;p45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</a:rPr>
              <a:t>title.py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743" name="Google Shape;743;p45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6"/>
          <p:cNvSpPr/>
          <p:nvPr/>
        </p:nvSpPr>
        <p:spPr>
          <a:xfrm>
            <a:off x="1761978" y="117426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title.py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9" name="Google Shape;749;p46"/>
          <p:cNvSpPr/>
          <p:nvPr/>
        </p:nvSpPr>
        <p:spPr>
          <a:xfrm>
            <a:off x="6143478" y="117426"/>
            <a:ext cx="2476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compare_ab</a:t>
            </a: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0" name="Google Shape;750;p46"/>
          <p:cNvSpPr/>
          <p:nvPr/>
        </p:nvSpPr>
        <p:spPr>
          <a:xfrm>
            <a:off x="1171428" y="717501"/>
            <a:ext cx="7429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5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Sparse Graphs</a:t>
            </a:r>
            <a:r>
              <a:rPr lang="en" sz="2475">
                <a:solidFill>
                  <a:srgbClr val="FCC642"/>
                </a:solidFill>
                <a:latin typeface="Fira Code"/>
                <a:ea typeface="Fira Code"/>
                <a:cs typeface="Fira Code"/>
                <a:sym typeface="Fira Code"/>
              </a:rPr>
              <a:t> (E = 2V) </a:t>
            </a:r>
            <a:r>
              <a:rPr lang="en" sz="2475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51" name="Google Shape;751;p46"/>
          <p:cNvSpPr/>
          <p:nvPr/>
        </p:nvSpPr>
        <p:spPr>
          <a:xfrm>
            <a:off x="1171428" y="4156026"/>
            <a:ext cx="47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graphicFrame>
        <p:nvGraphicFramePr>
          <p:cNvPr id="752" name="Google Shape;752;p46"/>
          <p:cNvGraphicFramePr/>
          <p:nvPr/>
        </p:nvGraphicFramePr>
        <p:xfrm>
          <a:off x="1240653" y="1450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{9BBB0A65-CD4B-4173-B407-39140296A06B}</a:tableStyleId>
              </a:tblPr>
              <a:tblGrid>
                <a:gridCol w="564050"/>
                <a:gridCol w="580600"/>
                <a:gridCol w="1281675"/>
                <a:gridCol w="12639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" sz="1275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V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75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E</a:t>
                      </a:r>
                      <a:endParaRPr b="1" sz="1275">
                        <a:solidFill>
                          <a:srgbClr val="FCC642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" sz="1275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Part A</a:t>
                      </a:r>
                      <a:r>
                        <a:rPr b="1" lang="en" sz="1275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 (ms)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75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Part B (ms)</a:t>
                      </a:r>
                      <a:endParaRPr b="1" sz="1275">
                        <a:solidFill>
                          <a:srgbClr val="FCC642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lang="en" sz="1275" u="none" cap="none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</a:t>
                      </a: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200</a:t>
                      </a:r>
                      <a:endParaRPr b="0" sz="1275" u="none" cap="none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0.483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0.194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200</a:t>
                      </a:r>
                      <a:endParaRPr b="0" sz="1275" u="none" cap="none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400</a:t>
                      </a:r>
                      <a:endParaRPr b="0" sz="1275" u="none" cap="none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1.918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0.470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400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800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7.879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1.090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800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1600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31.521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2.384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1600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3200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128.397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5.108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</a:tbl>
          </a:graphicData>
        </a:graphic>
      </p:graphicFrame>
      <p:sp>
        <p:nvSpPr>
          <p:cNvPr id="753" name="Google Shape;753;p46"/>
          <p:cNvSpPr txBox="1"/>
          <p:nvPr>
            <p:ph idx="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754" name="Google Shape;754;p46" title="compare_spar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4300" y="1222786"/>
            <a:ext cx="3536626" cy="265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7"/>
          <p:cNvSpPr/>
          <p:nvPr/>
        </p:nvSpPr>
        <p:spPr>
          <a:xfrm>
            <a:off x="1761978" y="117426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title.py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0" name="Google Shape;760;p47"/>
          <p:cNvSpPr/>
          <p:nvPr/>
        </p:nvSpPr>
        <p:spPr>
          <a:xfrm>
            <a:off x="6143478" y="117426"/>
            <a:ext cx="2476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compare_ab.py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1" name="Google Shape;761;p47"/>
          <p:cNvSpPr/>
          <p:nvPr/>
        </p:nvSpPr>
        <p:spPr>
          <a:xfrm>
            <a:off x="1171428" y="717501"/>
            <a:ext cx="7429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5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Density Grows</a:t>
            </a:r>
            <a:r>
              <a:rPr lang="en" sz="2475">
                <a:solidFill>
                  <a:srgbClr val="FCC642"/>
                </a:solidFill>
                <a:latin typeface="Fira Code"/>
                <a:ea typeface="Fira Code"/>
                <a:cs typeface="Fira Code"/>
                <a:sym typeface="Fira Code"/>
              </a:rPr>
              <a:t> (V = 500)</a:t>
            </a:r>
            <a:r>
              <a:rPr lang="en" sz="2475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{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62" name="Google Shape;762;p47"/>
          <p:cNvSpPr/>
          <p:nvPr/>
        </p:nvSpPr>
        <p:spPr>
          <a:xfrm>
            <a:off x="1171428" y="4156026"/>
            <a:ext cx="47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7E7E7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/>
          </a:p>
        </p:txBody>
      </p:sp>
      <p:sp>
        <p:nvSpPr>
          <p:cNvPr id="763" name="Google Shape;763;p47"/>
          <p:cNvSpPr txBox="1"/>
          <p:nvPr>
            <p:ph idx="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pic>
        <p:nvPicPr>
          <p:cNvPr id="764" name="Google Shape;764;p47" title="compare_dens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4300" y="1220061"/>
            <a:ext cx="3536626" cy="2652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65" name="Google Shape;765;p47"/>
          <p:cNvGraphicFramePr/>
          <p:nvPr/>
        </p:nvGraphicFramePr>
        <p:xfrm>
          <a:off x="1069753" y="1450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{9BBB0A65-CD4B-4173-B407-39140296A06B}</a:tableStyleId>
              </a:tblPr>
              <a:tblGrid>
                <a:gridCol w="470575"/>
                <a:gridCol w="761250"/>
                <a:gridCol w="1298325"/>
                <a:gridCol w="13310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" sz="1275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V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75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E</a:t>
                      </a:r>
                      <a:endParaRPr b="1" sz="1275">
                        <a:solidFill>
                          <a:srgbClr val="FCC642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lang="en" sz="1275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Part A (ms)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75">
                          <a:solidFill>
                            <a:srgbClr val="FCC642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Part B (ms)</a:t>
                      </a:r>
                      <a:endParaRPr b="1" sz="1275">
                        <a:solidFill>
                          <a:srgbClr val="FCC642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500</a:t>
                      </a:r>
                      <a:endParaRPr/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500</a:t>
                      </a:r>
                      <a:endParaRPr b="0" sz="1275" u="none" cap="none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12.097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1.276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500</a:t>
                      </a:r>
                      <a:endParaRPr b="0" sz="1275" u="none" cap="none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2000</a:t>
                      </a:r>
                      <a:endParaRPr b="0" sz="1275" u="none" cap="none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12.043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1.602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500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10000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12.497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2.335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500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50000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14.435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6.741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500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100000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16.419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21.443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500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124750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17.088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75">
                          <a:solidFill>
                            <a:srgbClr val="E7E7E7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31.733</a:t>
                      </a:r>
                      <a:endParaRPr sz="1275">
                        <a:solidFill>
                          <a:srgbClr val="E7E7E7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28575" marB="28575" marR="76200" marL="76200">
                    <a:solidFill>
                      <a:srgbClr val="2E32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8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r>
              <a:rPr lang="en">
                <a:solidFill>
                  <a:schemeClr val="accent3"/>
                </a:solidFill>
              </a:rPr>
              <a:t>{</a:t>
            </a:r>
            <a:endParaRPr>
              <a:solidFill>
                <a:schemeClr val="accent3"/>
              </a:solidFill>
            </a:endParaRPr>
          </a:p>
        </p:txBody>
      </p:sp>
      <p:grpSp>
        <p:nvGrpSpPr>
          <p:cNvPr id="771" name="Google Shape;771;p48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72" name="Google Shape;772;p48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73" name="Google Shape;773;p48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74" name="Google Shape;774;p48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title.py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5" name="Google Shape;775;p48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76" name="Google Shape;776;p48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  <p:graphicFrame>
        <p:nvGraphicFramePr>
          <p:cNvPr id="777" name="Google Shape;777;p48"/>
          <p:cNvGraphicFramePr/>
          <p:nvPr/>
        </p:nvGraphicFramePr>
        <p:xfrm>
          <a:off x="2106175" y="1366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{E4D09AA9-CBC0-4558-9459-706624ADDD8B}</a:tableStyleId>
              </a:tblPr>
              <a:tblGrid>
                <a:gridCol w="1358425"/>
                <a:gridCol w="2362450"/>
                <a:gridCol w="2415325"/>
              </a:tblGrid>
              <a:tr h="44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(a) Matrix + Array</a:t>
                      </a:r>
                      <a:endParaRPr b="1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(b) List + Heap</a:t>
                      </a:r>
                      <a:endParaRPr b="1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</a:tr>
              <a:tr h="72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Time</a:t>
                      </a:r>
                      <a:endParaRPr sz="10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O(V²)</a:t>
                      </a:r>
                      <a:endParaRPr sz="11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O((V+E) log V)</a:t>
                      </a:r>
                      <a:endParaRPr sz="12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</a:tr>
              <a:tr h="76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Memory</a:t>
                      </a:r>
                      <a:endParaRPr sz="11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O(V²)</a:t>
                      </a:r>
                      <a:endParaRPr sz="11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O(V + E)</a:t>
                      </a:r>
                      <a:endParaRPr sz="12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</a:tr>
              <a:tr h="59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Best for</a:t>
                      </a:r>
                      <a:endParaRPr sz="11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Dense graphs</a:t>
                      </a:r>
                      <a:endParaRPr sz="11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Sparse graphs</a:t>
                      </a:r>
                      <a:endParaRPr sz="1200">
                        <a:solidFill>
                          <a:schemeClr val="accent3"/>
                        </a:solidFill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9"/>
          <p:cNvSpPr txBox="1"/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Thanks;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83" name="Google Shape;783;p49"/>
          <p:cNvSpPr txBox="1"/>
          <p:nvPr>
            <p:ph idx="2" type="subTitle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‘Do you have any questions?’</a:t>
            </a:r>
            <a:endParaRPr/>
          </a:p>
        </p:txBody>
      </p:sp>
      <p:grpSp>
        <p:nvGrpSpPr>
          <p:cNvPr id="784" name="Google Shape;784;p49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85" name="Google Shape;785;p4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86" name="Google Shape;786;p49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87" name="Google Shape;787;p49"/>
          <p:cNvSpPr txBox="1"/>
          <p:nvPr>
            <p:ph idx="4294967295" type="subTitle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6"/>
                </a:solidFill>
              </a:rPr>
              <a:t>title.py</a:t>
            </a:r>
            <a:endParaRPr sz="1400">
              <a:solidFill>
                <a:schemeClr val="accent6"/>
              </a:solidFill>
            </a:endParaRPr>
          </a:p>
        </p:txBody>
      </p:sp>
      <p:sp>
        <p:nvSpPr>
          <p:cNvPr id="788" name="Google Shape;788;p49"/>
          <p:cNvSpPr txBox="1"/>
          <p:nvPr/>
        </p:nvSpPr>
        <p:spPr>
          <a:xfrm>
            <a:off x="3383375" y="186962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2"/>
                </a:solidFill>
                <a:latin typeface="Fira Code"/>
                <a:ea typeface="Fira Code"/>
                <a:cs typeface="Fira Code"/>
                <a:sym typeface="Fira Code"/>
              </a:rPr>
              <a:t>Q &amp; A</a:t>
            </a:r>
            <a:endParaRPr sz="7400"/>
          </a:p>
        </p:txBody>
      </p:sp>
      <p:sp>
        <p:nvSpPr>
          <p:cNvPr id="789" name="Google Shape;789;p49"/>
          <p:cNvSpPr txBox="1"/>
          <p:nvPr>
            <p:ph idx="4294967295" type="subTitle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contents.java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790" name="Google Shape;790;p49"/>
          <p:cNvSpPr txBox="1"/>
          <p:nvPr>
            <p:ph idx="4294967295" type="subTitle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SC2001 Project 2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